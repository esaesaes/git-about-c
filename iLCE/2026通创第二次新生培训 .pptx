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71" r:id="rId4"/>
    <p:sldId id="270" r:id="rId5"/>
    <p:sldId id="257" r:id="rId7"/>
    <p:sldId id="395" r:id="rId8"/>
    <p:sldId id="269" r:id="rId9"/>
    <p:sldId id="261" r:id="rId10"/>
    <p:sldId id="306" r:id="rId11"/>
    <p:sldId id="363" r:id="rId12"/>
    <p:sldId id="344" r:id="rId13"/>
    <p:sldId id="321" r:id="rId14"/>
    <p:sldId id="364" r:id="rId15"/>
    <p:sldId id="260" r:id="rId16"/>
    <p:sldId id="263" r:id="rId17"/>
    <p:sldId id="265" r:id="rId18"/>
    <p:sldId id="394" r:id="rId19"/>
    <p:sldId id="264" r:id="rId20"/>
    <p:sldId id="322" r:id="rId21"/>
    <p:sldId id="323" r:id="rId22"/>
    <p:sldId id="324" r:id="rId23"/>
    <p:sldId id="320" r:id="rId24"/>
    <p:sldId id="343" r:id="rId25"/>
    <p:sldId id="294" r:id="rId26"/>
    <p:sldId id="318" r:id="rId27"/>
    <p:sldId id="296" r:id="rId28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yhx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17" y="322"/>
      </p:cViewPr>
      <p:guideLst>
        <p:guide orient="horz" pos="2151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4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4T19:19:37.388" idx="1">
    <p:pos x="10" y="1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16T15:00:08.188" idx="2">
    <p:pos x="10" y="10"/>
    <p:text/>
  </p:cm>
</p:cmLst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955.000 713.000,'834.000'0.000,"-834.000"243.000,-834.000-243.000,834.000-243.000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1014.000 720.000,'1.000'0.000,"-1.000"1.000,-1.000-1.000,1.000-1.000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961.000 713.000,'270.000'0.000,"-270.000"31.000,-270.000-31.000,270.000-31.000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962.000 718.000,'753.000'0.000,"-753.000"18.000,-753.000-18.000,753.000-18.000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964.000 718.000,'674.000'0.000,"-674.000"137.000,-674.000-137.000,674.000-137.000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946.000 717.000,'619.000'0.000,"-619.000"57.000,-619.000-57.000,619.000-57.000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962.000 726.000,'727.000'0.000,"-727.000"18.000,-727.000-18.000,727.000-18.000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1003.000 717.000,'3.000'0.000,"-3.000"1.000,-3.000-1.000,3.000-1.000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982.000 716.000,'432.000'0.000,"-432.000"29.000,-432.000-29.000,432.000-29.000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991.000 717.000,'323.000'0.000,"-323.000"110.000,-323.000-110.000,323.000-110.000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993.000 722.000,'176.000'0.000,"-176.000"31.000,-176.000-31.000,176.000-31.000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987.000 718.000,'430.000'0.000,"-430.000"149.000,-430.000-149.000,430.000-149.000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1001.000 722.000,'229.000'0.000,"-229.000"44.000,-229.000-44.000,229.000-44.000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949.000 722.000,'203.000'0.000,"-203.000"8.000,-203.000-8.000,203.000-8.000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956.000 724.000,'3.000'0.000,"-3.000"3.000,-3.000-3.000,3.000-3.000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958.000 719.000,'3.000'0.000,"-3.000"6.000,-3.000-6.000,3.000-6.000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10-07T20:57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961.000 730.000,'6.000'0.000,"-6.000"4.000,-6.000-4.000,6.000-4.000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95981-17E4-4F00-8F92-6C0CC2F233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7355B-8ED9-43F4-A0A7-6D6B0B433D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jpeg"/><Relationship Id="rId7" Type="http://schemas.openxmlformats.org/officeDocument/2006/relationships/image" Target="../media/image15.png"/><Relationship Id="rId6" Type="http://schemas.openxmlformats.org/officeDocument/2006/relationships/image" Target="../media/image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slide" Target="slide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tags" Target="../tags/tag3.xml"/><Relationship Id="rId3" Type="http://schemas.openxmlformats.org/officeDocument/2006/relationships/slide" Target="slide8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23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1.emf"/><Relationship Id="rId2" Type="http://schemas.openxmlformats.org/officeDocument/2006/relationships/oleObject" Target="../embeddings/oleObject1.bin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.jpeg"/><Relationship Id="rId11" Type="http://schemas.openxmlformats.org/officeDocument/2006/relationships/image" Target="../media/image25.w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oleObject" Target="../embeddings/oleObject9.bin"/><Relationship Id="rId7" Type="http://schemas.openxmlformats.org/officeDocument/2006/relationships/image" Target="../media/image28.wmf"/><Relationship Id="rId6" Type="http://schemas.openxmlformats.org/officeDocument/2006/relationships/oleObject" Target="../embeddings/oleObject8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26.wmf"/><Relationship Id="rId2" Type="http://schemas.openxmlformats.org/officeDocument/2006/relationships/oleObject" Target="../embeddings/oleObject6.bin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.jpeg"/><Relationship Id="rId13" Type="http://schemas.openxmlformats.org/officeDocument/2006/relationships/image" Target="../media/image31.wmf"/><Relationship Id="rId12" Type="http://schemas.openxmlformats.org/officeDocument/2006/relationships/oleObject" Target="../embeddings/oleObject11.bin"/><Relationship Id="rId11" Type="http://schemas.openxmlformats.org/officeDocument/2006/relationships/image" Target="../media/image30.wmf"/><Relationship Id="rId10" Type="http://schemas.openxmlformats.org/officeDocument/2006/relationships/oleObject" Target="../embeddings/oleObject10.bin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2.jpe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7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5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4.jpeg"/><Relationship Id="rId10" Type="http://schemas.openxmlformats.org/officeDocument/2006/relationships/vmlDrawing" Target="../drawings/vmlDrawing3.v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4.jpeg"/><Relationship Id="rId2" Type="http://schemas.openxmlformats.org/officeDocument/2006/relationships/image" Target="../media/image39.jpeg"/><Relationship Id="rId19" Type="http://schemas.openxmlformats.org/officeDocument/2006/relationships/vmlDrawing" Target="../drawings/vmlDrawing5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48.png"/><Relationship Id="rId16" Type="http://schemas.openxmlformats.org/officeDocument/2006/relationships/image" Target="../media/image47.w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44.wmf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51.jpeg"/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customXml" Target="../ink/ink3.xml"/><Relationship Id="rId7" Type="http://schemas.openxmlformats.org/officeDocument/2006/relationships/image" Target="../media/image53.png"/><Relationship Id="rId6" Type="http://schemas.openxmlformats.org/officeDocument/2006/relationships/customXml" Target="../ink/ink2.xml"/><Relationship Id="rId5" Type="http://schemas.openxmlformats.org/officeDocument/2006/relationships/image" Target="../media/image52.png"/><Relationship Id="rId4" Type="http://schemas.openxmlformats.org/officeDocument/2006/relationships/customXml" Target="../ink/ink1.xml"/><Relationship Id="rId39" Type="http://schemas.openxmlformats.org/officeDocument/2006/relationships/slideLayout" Target="../slideLayouts/slideLayout2.xml"/><Relationship Id="rId38" Type="http://schemas.openxmlformats.org/officeDocument/2006/relationships/image" Target="../media/image69.png"/><Relationship Id="rId37" Type="http://schemas.openxmlformats.org/officeDocument/2006/relationships/image" Target="../media/image68.png"/><Relationship Id="rId36" Type="http://schemas.openxmlformats.org/officeDocument/2006/relationships/customXml" Target="../ink/ink17.xml"/><Relationship Id="rId35" Type="http://schemas.openxmlformats.org/officeDocument/2006/relationships/image" Target="../media/image67.png"/><Relationship Id="rId34" Type="http://schemas.openxmlformats.org/officeDocument/2006/relationships/customXml" Target="../ink/ink16.xml"/><Relationship Id="rId33" Type="http://schemas.openxmlformats.org/officeDocument/2006/relationships/image" Target="../media/image66.png"/><Relationship Id="rId32" Type="http://schemas.openxmlformats.org/officeDocument/2006/relationships/customXml" Target="../ink/ink15.xml"/><Relationship Id="rId31" Type="http://schemas.openxmlformats.org/officeDocument/2006/relationships/image" Target="../media/image65.png"/><Relationship Id="rId30" Type="http://schemas.openxmlformats.org/officeDocument/2006/relationships/customXml" Target="../ink/ink14.xml"/><Relationship Id="rId3" Type="http://schemas.openxmlformats.org/officeDocument/2006/relationships/image" Target="../media/image9.png"/><Relationship Id="rId29" Type="http://schemas.openxmlformats.org/officeDocument/2006/relationships/image" Target="../media/image64.png"/><Relationship Id="rId28" Type="http://schemas.openxmlformats.org/officeDocument/2006/relationships/customXml" Target="../ink/ink13.xml"/><Relationship Id="rId27" Type="http://schemas.openxmlformats.org/officeDocument/2006/relationships/image" Target="../media/image63.png"/><Relationship Id="rId26" Type="http://schemas.openxmlformats.org/officeDocument/2006/relationships/customXml" Target="../ink/ink12.xml"/><Relationship Id="rId25" Type="http://schemas.openxmlformats.org/officeDocument/2006/relationships/image" Target="../media/image62.png"/><Relationship Id="rId24" Type="http://schemas.openxmlformats.org/officeDocument/2006/relationships/customXml" Target="../ink/ink11.xml"/><Relationship Id="rId23" Type="http://schemas.openxmlformats.org/officeDocument/2006/relationships/image" Target="../media/image61.png"/><Relationship Id="rId22" Type="http://schemas.openxmlformats.org/officeDocument/2006/relationships/customXml" Target="../ink/ink10.xml"/><Relationship Id="rId21" Type="http://schemas.openxmlformats.org/officeDocument/2006/relationships/image" Target="../media/image60.png"/><Relationship Id="rId20" Type="http://schemas.openxmlformats.org/officeDocument/2006/relationships/customXml" Target="../ink/ink9.xml"/><Relationship Id="rId2" Type="http://schemas.openxmlformats.org/officeDocument/2006/relationships/image" Target="../media/image4.jpeg"/><Relationship Id="rId19" Type="http://schemas.openxmlformats.org/officeDocument/2006/relationships/image" Target="../media/image59.png"/><Relationship Id="rId18" Type="http://schemas.openxmlformats.org/officeDocument/2006/relationships/customXml" Target="../ink/ink8.xml"/><Relationship Id="rId17" Type="http://schemas.openxmlformats.org/officeDocument/2006/relationships/image" Target="../media/image58.png"/><Relationship Id="rId16" Type="http://schemas.openxmlformats.org/officeDocument/2006/relationships/customXml" Target="../ink/ink7.xml"/><Relationship Id="rId15" Type="http://schemas.openxmlformats.org/officeDocument/2006/relationships/image" Target="../media/image57.png"/><Relationship Id="rId14" Type="http://schemas.openxmlformats.org/officeDocument/2006/relationships/customXml" Target="../ink/ink6.xml"/><Relationship Id="rId13" Type="http://schemas.openxmlformats.org/officeDocument/2006/relationships/image" Target="../media/image56.png"/><Relationship Id="rId12" Type="http://schemas.openxmlformats.org/officeDocument/2006/relationships/customXml" Target="../ink/ink5.xml"/><Relationship Id="rId11" Type="http://schemas.openxmlformats.org/officeDocument/2006/relationships/image" Target="../media/image55.png"/><Relationship Id="rId10" Type="http://schemas.openxmlformats.org/officeDocument/2006/relationships/customXml" Target="../ink/ink4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0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19" name="六边形 18"/>
          <p:cNvSpPr/>
          <p:nvPr/>
        </p:nvSpPr>
        <p:spPr>
          <a:xfrm>
            <a:off x="3766929" y="755780"/>
            <a:ext cx="4658142" cy="3739229"/>
          </a:xfrm>
          <a:prstGeom prst="hexagon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032993" y="821095"/>
            <a:ext cx="4000193" cy="3609246"/>
          </a:xfrm>
          <a:prstGeom prst="ellipse">
            <a:avLst/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471370" y="1903446"/>
            <a:ext cx="3249259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defTabSz="914400"/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ILCE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 defTabSz="914400"/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通信创新实验室</a:t>
            </a:r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57428" y="2901822"/>
            <a:ext cx="4383667" cy="4603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4400"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第二次新生培训</a:t>
            </a:r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80296" y="4775704"/>
            <a:ext cx="49385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      </a:t>
            </a:r>
            <a:r>
              <a:rPr lang="zh-CN" altLang="en-US" sz="3600" dirty="0">
                <a:solidFill>
                  <a:schemeClr val="bg1"/>
                </a:solidFill>
              </a:rPr>
              <a:t>主讲人：饶钰丹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81610"/>
            <a:ext cx="12192000" cy="808962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上轮作业问题点评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66800" y="1043305"/>
            <a:ext cx="6607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</a:rPr>
              <a:t> 不理解电路原理，盲目进行焊接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9350" y="3091180"/>
            <a:ext cx="10252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3.</a:t>
            </a:r>
            <a:r>
              <a:rPr lang="zh-CN" altLang="en-US" sz="2000" dirty="0">
                <a:solidFill>
                  <a:srgbClr val="FF0000"/>
                </a:solidFill>
              </a:rPr>
              <a:t>存在虚焊（焊点出现焊接不良或者不可靠连接）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9350" y="2166620"/>
            <a:ext cx="8420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2.</a:t>
            </a:r>
            <a:r>
              <a:rPr lang="zh-CN" altLang="en-US" sz="2000" dirty="0">
                <a:solidFill>
                  <a:srgbClr val="FF0000"/>
                </a:solidFill>
              </a:rPr>
              <a:t>将器件本身连接，导致系统短路（短焊）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71955" y="1565275"/>
            <a:ext cx="82353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建议这部分同学认真查看上一次培训的</a:t>
            </a:r>
            <a:r>
              <a:rPr lang="en-US" altLang="zh-CN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PPT</a:t>
            </a:r>
            <a:r>
              <a:rPr lang="zh-CN" altLang="en-US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，同时学会自己在网上查找资料，务必做到了解工作原理（</a:t>
            </a:r>
            <a:r>
              <a:rPr lang="en-US" altLang="zh-CN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AI</a:t>
            </a:r>
            <a:r>
              <a:rPr lang="zh-CN" altLang="en-US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、</a:t>
            </a:r>
            <a:r>
              <a:rPr lang="en-US" altLang="zh-CN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CSDN</a:t>
            </a:r>
            <a:r>
              <a:rPr lang="zh-CN" altLang="en-US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）。</a:t>
            </a:r>
            <a:endParaRPr lang="zh-CN" altLang="en-US" sz="2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58950" y="2508250"/>
            <a:ext cx="855726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不可以将电阻，二极管，三极管等器件本身引脚连接，走锡相当于导线，器件会被短路。（固定完器件以后将引脚剪掉）</a:t>
            </a:r>
            <a:endParaRPr lang="zh-CN" altLang="en-US" sz="2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11655" y="3451225"/>
            <a:ext cx="82937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万用表功能有很多，除了测量电阻，电压，电流等基本参数，还可以用通断档测试电路状态（即短路或断路）。</a:t>
            </a:r>
            <a:endParaRPr lang="zh-CN" altLang="en-US" sz="2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zh-CN" altLang="en-US" sz="2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zh-CN" altLang="en-US" sz="2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29995" y="4173220"/>
            <a:ext cx="9118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4.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相同网络标签（如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VCC,GND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）需连在一起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10945" y="4732655"/>
            <a:ext cx="9156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5.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仪器的使用（如电源，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dds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等）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6.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注意卫生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683" y="121313"/>
            <a:ext cx="9905998" cy="1478570"/>
          </a:xfrm>
        </p:spPr>
        <p:txBody>
          <a:bodyPr/>
          <a:lstStyle/>
          <a:p>
            <a:r>
              <a:rPr lang="en-US" altLang="zh-CN" dirty="0"/>
              <a:t>			</a:t>
            </a:r>
            <a:r>
              <a:rPr lang="zh-CN" altLang="en-US" dirty="0">
                <a:solidFill>
                  <a:srgbClr val="FF0000"/>
                </a:solidFill>
              </a:rPr>
              <a:t>如何使用万用表？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 descr="IMG_20191016_0444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785" y="1599565"/>
            <a:ext cx="1852930" cy="3705860"/>
          </a:xfrm>
          <a:prstGeom prst="rect">
            <a:avLst/>
          </a:prstGeom>
        </p:spPr>
      </p:pic>
      <p:pic>
        <p:nvPicPr>
          <p:cNvPr id="5" name="图片 4" descr="IMG_20191016_0444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85" y="1600200"/>
            <a:ext cx="1910715" cy="3705225"/>
          </a:xfrm>
          <a:prstGeom prst="rect">
            <a:avLst/>
          </a:prstGeom>
        </p:spPr>
      </p:pic>
      <p:pic>
        <p:nvPicPr>
          <p:cNvPr id="6" name="图片 5" descr="IMG_20191016_0443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690" y="1576070"/>
            <a:ext cx="1924050" cy="37052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7228" y="930910"/>
            <a:ext cx="1560195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3600" b="1" dirty="0">
                <a:solidFill>
                  <a:schemeClr val="accent3"/>
                </a:solidFill>
                <a:effectLst/>
              </a:rPr>
              <a:t>通断档</a:t>
            </a:r>
            <a:endParaRPr lang="zh-CN" altLang="en-US" sz="3600" b="1" dirty="0">
              <a:solidFill>
                <a:schemeClr val="accent3"/>
              </a:solidFill>
              <a:effectLst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22328" y="930910"/>
            <a:ext cx="1560195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3600" b="1">
                <a:solidFill>
                  <a:schemeClr val="accent3"/>
                </a:solidFill>
                <a:effectLst/>
              </a:rPr>
              <a:t>电阻档</a:t>
            </a:r>
            <a:endParaRPr lang="zh-CN" altLang="en-US" sz="3600" b="1"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29153" y="954405"/>
            <a:ext cx="1560195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3600" b="1">
                <a:solidFill>
                  <a:schemeClr val="accent3"/>
                </a:solidFill>
                <a:effectLst/>
              </a:rPr>
              <a:t>电压档</a:t>
            </a:r>
            <a:endParaRPr lang="zh-CN" altLang="en-US" sz="3600" b="1">
              <a:solidFill>
                <a:schemeClr val="accent3"/>
              </a:solidFill>
              <a:effectLst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46975" y="568325"/>
            <a:ext cx="4791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</a:rPr>
              <a:t>红笔为正，黑笔为负</a:t>
            </a:r>
            <a:endParaRPr lang="zh-CN" altLang="en-US" sz="3200">
              <a:solidFill>
                <a:srgbClr val="FF0000"/>
              </a:solidFill>
            </a:endParaRPr>
          </a:p>
        </p:txBody>
      </p:sp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41" y="630923"/>
            <a:ext cx="8303598" cy="4863641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</a:rPr>
              <a:t>集成运算放大器，简称集成运放。一种应用极其广泛的集成器件，它采用微电子技术将大量晶体管、电阻、电容及他们之间的连线制作在一小块硅片上，构成一个具有一定功能的单元运用在电路系统。</a:t>
            </a:r>
            <a:br>
              <a:rPr lang="zh-CN" altLang="en-US" sz="2400" dirty="0">
                <a:solidFill>
                  <a:srgbClr val="C00000"/>
                </a:solidFill>
              </a:rPr>
            </a:br>
            <a:r>
              <a:rPr lang="en-US" altLang="zh-CN" sz="2400" dirty="0">
                <a:solidFill>
                  <a:srgbClr val="C00000"/>
                </a:solidFill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</a:rPr>
              <a:t>拆解集成运算放大器：</a:t>
            </a:r>
            <a:br>
              <a:rPr lang="zh-CN" altLang="en-US" sz="2400" dirty="0">
                <a:solidFill>
                  <a:srgbClr val="C00000"/>
                </a:solidFill>
              </a:rPr>
            </a:br>
            <a:r>
              <a:rPr lang="en-US" altLang="zh-CN" sz="2400" dirty="0">
                <a:solidFill>
                  <a:srgbClr val="C00000"/>
                </a:solidFill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</a:rPr>
              <a:t>集成：将电路封装，留出接口，使其模块化，便于移植。</a:t>
            </a:r>
            <a:br>
              <a:rPr lang="zh-CN" altLang="en-US" sz="2400" dirty="0">
                <a:solidFill>
                  <a:srgbClr val="C00000"/>
                </a:solidFill>
              </a:rPr>
            </a:br>
            <a:r>
              <a:rPr lang="en-US" altLang="zh-CN" sz="2400" dirty="0">
                <a:solidFill>
                  <a:srgbClr val="C00000"/>
                </a:solidFill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</a:rPr>
              <a:t>运算：这里涉及到的是一些数学运算，不过这里的运算对象不仅是简单的数字，还有电路参量。</a:t>
            </a:r>
            <a:br>
              <a:rPr lang="zh-CN" altLang="en-US" sz="2400" dirty="0">
                <a:solidFill>
                  <a:srgbClr val="C00000"/>
                </a:solidFill>
              </a:rPr>
            </a:b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</a:rPr>
              <a:t>放大器：即将电参量进行放大，比如将电压从</a:t>
            </a:r>
            <a:r>
              <a:rPr lang="en-US" altLang="zh-CN" sz="2400" dirty="0">
                <a:solidFill>
                  <a:srgbClr val="C00000"/>
                </a:solidFill>
              </a:rPr>
              <a:t>1V</a:t>
            </a:r>
            <a:r>
              <a:rPr lang="zh-CN" altLang="en-US" sz="2400" dirty="0">
                <a:solidFill>
                  <a:srgbClr val="C00000"/>
                </a:solidFill>
              </a:rPr>
              <a:t>放大至</a:t>
            </a:r>
            <a:r>
              <a:rPr lang="en-US" altLang="zh-CN" sz="2400" dirty="0">
                <a:solidFill>
                  <a:srgbClr val="C00000"/>
                </a:solidFill>
              </a:rPr>
              <a:t>5V</a:t>
            </a:r>
            <a:r>
              <a:rPr lang="zh-CN" altLang="en-US" sz="2400" dirty="0">
                <a:solidFill>
                  <a:srgbClr val="C00000"/>
                </a:solidFill>
              </a:rPr>
              <a:t>。</a:t>
            </a:r>
            <a:br>
              <a:rPr lang="zh-CN" altLang="en-US" sz="2400" dirty="0">
                <a:solidFill>
                  <a:srgbClr val="C00000"/>
                </a:solidFill>
              </a:rPr>
            </a:b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</a:rPr>
              <a:t>总的来说，就是通过内部元器件的电参量关系将电参量进行运算，达到放大目的。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51" y="4970371"/>
            <a:ext cx="2627630" cy="1506220"/>
          </a:xfrm>
          <a:prstGeom prst="rect">
            <a:avLst/>
          </a:prstGeom>
        </p:spPr>
      </p:pic>
      <p:grpSp>
        <p:nvGrpSpPr>
          <p:cNvPr id="6" name="Group 29"/>
          <p:cNvGrpSpPr/>
          <p:nvPr/>
        </p:nvGrpSpPr>
        <p:grpSpPr bwMode="auto">
          <a:xfrm>
            <a:off x="7138987" y="4835638"/>
            <a:ext cx="2867025" cy="2016125"/>
            <a:chOff x="1686" y="736"/>
            <a:chExt cx="1806" cy="1270"/>
          </a:xfrm>
        </p:grpSpPr>
        <p:sp>
          <p:nvSpPr>
            <p:cNvPr id="7" name="Text Box 30"/>
            <p:cNvSpPr txBox="1">
              <a:spLocks noChangeArrowheads="1"/>
            </p:cNvSpPr>
            <p:nvPr/>
          </p:nvSpPr>
          <p:spPr bwMode="auto">
            <a:xfrm>
              <a:off x="3066" y="1273"/>
              <a:ext cx="4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>
                  <a:solidFill>
                    <a:srgbClr val="FF0000"/>
                  </a:solidFill>
                </a:rPr>
                <a:t>u</a:t>
              </a:r>
              <a:r>
                <a:rPr lang="en-US" altLang="zh-CN" b="1" baseline="-25000">
                  <a:solidFill>
                    <a:srgbClr val="FF0000"/>
                  </a:solidFill>
                </a:rPr>
                <a:t>o</a:t>
              </a:r>
              <a:endParaRPr lang="en-US" altLang="zh-CN" b="1" baseline="-25000">
                <a:solidFill>
                  <a:srgbClr val="FF0000"/>
                </a:solidFill>
              </a:endParaRPr>
            </a:p>
          </p:txBody>
        </p:sp>
        <p:sp>
          <p:nvSpPr>
            <p:cNvPr id="8" name="Line 31"/>
            <p:cNvSpPr>
              <a:spLocks noChangeShapeType="1"/>
            </p:cNvSpPr>
            <p:nvPr/>
          </p:nvSpPr>
          <p:spPr bwMode="auto">
            <a:xfrm>
              <a:off x="2490" y="950"/>
              <a:ext cx="0" cy="912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32"/>
            <p:cNvSpPr>
              <a:spLocks noChangeShapeType="1"/>
            </p:cNvSpPr>
            <p:nvPr/>
          </p:nvSpPr>
          <p:spPr bwMode="auto">
            <a:xfrm flipV="1">
              <a:off x="2778" y="1406"/>
              <a:ext cx="288" cy="0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33"/>
            <p:cNvSpPr>
              <a:spLocks noChangeShapeType="1"/>
            </p:cNvSpPr>
            <p:nvPr/>
          </p:nvSpPr>
          <p:spPr bwMode="auto">
            <a:xfrm>
              <a:off x="2016" y="1262"/>
              <a:ext cx="240" cy="0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34"/>
            <p:cNvSpPr>
              <a:spLocks noChangeShapeType="1"/>
            </p:cNvSpPr>
            <p:nvPr/>
          </p:nvSpPr>
          <p:spPr bwMode="auto">
            <a:xfrm>
              <a:off x="2016" y="1598"/>
              <a:ext cx="240" cy="0"/>
            </a:xfrm>
            <a:prstGeom prst="line">
              <a:avLst/>
            </a:prstGeom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Oval 35"/>
            <p:cNvSpPr>
              <a:spLocks noChangeArrowheads="1"/>
            </p:cNvSpPr>
            <p:nvPr/>
          </p:nvSpPr>
          <p:spPr bwMode="auto">
            <a:xfrm>
              <a:off x="1943" y="1225"/>
              <a:ext cx="73" cy="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36"/>
            <p:cNvSpPr>
              <a:spLocks noChangeArrowheads="1"/>
            </p:cNvSpPr>
            <p:nvPr/>
          </p:nvSpPr>
          <p:spPr bwMode="auto">
            <a:xfrm>
              <a:off x="1943" y="1561"/>
              <a:ext cx="73" cy="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Oval 37"/>
            <p:cNvSpPr>
              <a:spLocks noChangeArrowheads="1"/>
            </p:cNvSpPr>
            <p:nvPr/>
          </p:nvSpPr>
          <p:spPr bwMode="auto">
            <a:xfrm>
              <a:off x="2453" y="877"/>
              <a:ext cx="73" cy="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Oval 38"/>
            <p:cNvSpPr>
              <a:spLocks noChangeArrowheads="1"/>
            </p:cNvSpPr>
            <p:nvPr/>
          </p:nvSpPr>
          <p:spPr bwMode="auto">
            <a:xfrm>
              <a:off x="2453" y="1862"/>
              <a:ext cx="73" cy="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Oval 39"/>
            <p:cNvSpPr>
              <a:spLocks noChangeArrowheads="1"/>
            </p:cNvSpPr>
            <p:nvPr/>
          </p:nvSpPr>
          <p:spPr bwMode="auto">
            <a:xfrm>
              <a:off x="3029" y="1369"/>
              <a:ext cx="73" cy="7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Text Box 40"/>
            <p:cNvSpPr txBox="1">
              <a:spLocks noChangeArrowheads="1"/>
            </p:cNvSpPr>
            <p:nvPr/>
          </p:nvSpPr>
          <p:spPr bwMode="auto">
            <a:xfrm>
              <a:off x="1686" y="1225"/>
              <a:ext cx="4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>
                  <a:solidFill>
                    <a:srgbClr val="FF0000"/>
                  </a:solidFill>
                </a:rPr>
                <a:t>u</a:t>
              </a:r>
              <a:r>
                <a:rPr lang="en-US" altLang="zh-CN" b="1" baseline="-25000">
                  <a:solidFill>
                    <a:srgbClr val="FF0000"/>
                  </a:solidFill>
                </a:rPr>
                <a:t>id</a:t>
              </a:r>
              <a:endParaRPr lang="en-US" altLang="zh-CN" b="1" baseline="-25000">
                <a:solidFill>
                  <a:srgbClr val="FF0000"/>
                </a:solidFill>
              </a:endParaRPr>
            </a:p>
          </p:txBody>
        </p:sp>
        <p:grpSp>
          <p:nvGrpSpPr>
            <p:cNvPr id="18" name="Group 41"/>
            <p:cNvGrpSpPr/>
            <p:nvPr/>
          </p:nvGrpSpPr>
          <p:grpSpPr bwMode="auto">
            <a:xfrm>
              <a:off x="1776" y="1207"/>
              <a:ext cx="91" cy="91"/>
              <a:chOff x="1872" y="3024"/>
              <a:chExt cx="91" cy="91"/>
            </a:xfrm>
          </p:grpSpPr>
          <p:sp>
            <p:nvSpPr>
              <p:cNvPr id="32" name="Line 42"/>
              <p:cNvSpPr>
                <a:spLocks noChangeShapeType="1"/>
              </p:cNvSpPr>
              <p:nvPr/>
            </p:nvSpPr>
            <p:spPr bwMode="auto">
              <a:xfrm>
                <a:off x="1872" y="3072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" name="Line 43"/>
              <p:cNvSpPr>
                <a:spLocks noChangeShapeType="1"/>
              </p:cNvSpPr>
              <p:nvPr/>
            </p:nvSpPr>
            <p:spPr bwMode="auto">
              <a:xfrm rot="-5400000">
                <a:off x="1874" y="3070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" name="Line 44"/>
            <p:cNvSpPr>
              <a:spLocks noChangeShapeType="1"/>
            </p:cNvSpPr>
            <p:nvPr/>
          </p:nvSpPr>
          <p:spPr bwMode="auto">
            <a:xfrm>
              <a:off x="1776" y="1598"/>
              <a:ext cx="9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45"/>
            <p:cNvSpPr txBox="1">
              <a:spLocks noChangeArrowheads="1"/>
            </p:cNvSpPr>
            <p:nvPr/>
          </p:nvSpPr>
          <p:spPr bwMode="auto">
            <a:xfrm>
              <a:off x="2509" y="736"/>
              <a:ext cx="5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dirty="0">
                  <a:solidFill>
                    <a:srgbClr val="FF0000"/>
                  </a:solidFill>
                </a:rPr>
                <a:t>+</a:t>
              </a:r>
              <a:r>
                <a:rPr lang="en-US" altLang="zh-CN" b="1" i="1" dirty="0">
                  <a:solidFill>
                    <a:srgbClr val="FF0000"/>
                  </a:solidFill>
                </a:rPr>
                <a:t>V</a:t>
              </a:r>
              <a:r>
                <a:rPr lang="en-US" altLang="zh-CN" b="1" baseline="-25000" dirty="0">
                  <a:solidFill>
                    <a:srgbClr val="FF0000"/>
                  </a:solidFill>
                </a:rPr>
                <a:t>CC</a:t>
              </a:r>
              <a:endParaRPr lang="en-US" altLang="zh-CN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 Box 46"/>
            <p:cNvSpPr txBox="1">
              <a:spLocks noChangeArrowheads="1"/>
            </p:cNvSpPr>
            <p:nvPr/>
          </p:nvSpPr>
          <p:spPr bwMode="auto">
            <a:xfrm>
              <a:off x="2529" y="1718"/>
              <a:ext cx="5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solidFill>
                    <a:srgbClr val="FF0000"/>
                  </a:solidFill>
                  <a:cs typeface="Times New Roman" panose="02020603050405020304" pitchFamily="18" charset="0"/>
                </a:rPr>
                <a:t>–</a:t>
              </a:r>
              <a:r>
                <a:rPr lang="en-US" altLang="zh-CN" b="1" i="1">
                  <a:solidFill>
                    <a:srgbClr val="FF0000"/>
                  </a:solidFill>
                </a:rPr>
                <a:t>V</a:t>
              </a:r>
              <a:r>
                <a:rPr lang="en-US" altLang="zh-CN" b="1" baseline="-25000">
                  <a:solidFill>
                    <a:srgbClr val="FF0000"/>
                  </a:solidFill>
                </a:rPr>
                <a:t>EE</a:t>
              </a:r>
              <a:endParaRPr lang="en-US" altLang="zh-CN" b="1" baseline="-25000">
                <a:solidFill>
                  <a:srgbClr val="FF0000"/>
                </a:solidFill>
              </a:endParaRPr>
            </a:p>
          </p:txBody>
        </p:sp>
        <p:sp>
          <p:nvSpPr>
            <p:cNvPr id="22" name="Rectangle 47"/>
            <p:cNvSpPr>
              <a:spLocks noChangeArrowheads="1"/>
            </p:cNvSpPr>
            <p:nvPr/>
          </p:nvSpPr>
          <p:spPr bwMode="auto">
            <a:xfrm>
              <a:off x="2238" y="1151"/>
              <a:ext cx="576" cy="52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AutoShape 48"/>
            <p:cNvSpPr>
              <a:spLocks noChangeArrowheads="1"/>
            </p:cNvSpPr>
            <p:nvPr/>
          </p:nvSpPr>
          <p:spPr bwMode="auto">
            <a:xfrm rot="5400000">
              <a:off x="2430" y="1199"/>
              <a:ext cx="96" cy="9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Line 49"/>
            <p:cNvSpPr>
              <a:spLocks noChangeShapeType="1"/>
            </p:cNvSpPr>
            <p:nvPr/>
          </p:nvSpPr>
          <p:spPr bwMode="auto">
            <a:xfrm>
              <a:off x="2286" y="1295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5" name="Group 50"/>
            <p:cNvGrpSpPr/>
            <p:nvPr/>
          </p:nvGrpSpPr>
          <p:grpSpPr bwMode="auto">
            <a:xfrm>
              <a:off x="2703" y="1358"/>
              <a:ext cx="96" cy="96"/>
              <a:chOff x="3360" y="2832"/>
              <a:chExt cx="96" cy="96"/>
            </a:xfrm>
          </p:grpSpPr>
          <p:sp>
            <p:nvSpPr>
              <p:cNvPr id="30" name="Line 51"/>
              <p:cNvSpPr>
                <a:spLocks noChangeShapeType="1"/>
              </p:cNvSpPr>
              <p:nvPr/>
            </p:nvSpPr>
            <p:spPr bwMode="auto">
              <a:xfrm>
                <a:off x="3360" y="288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" name="Line 52"/>
              <p:cNvSpPr>
                <a:spLocks noChangeShapeType="1"/>
              </p:cNvSpPr>
              <p:nvPr/>
            </p:nvSpPr>
            <p:spPr bwMode="auto">
              <a:xfrm rot="-5400000">
                <a:off x="3360" y="288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" name="Group 53"/>
            <p:cNvGrpSpPr/>
            <p:nvPr/>
          </p:nvGrpSpPr>
          <p:grpSpPr bwMode="auto">
            <a:xfrm>
              <a:off x="2286" y="1487"/>
              <a:ext cx="96" cy="96"/>
              <a:chOff x="3360" y="2832"/>
              <a:chExt cx="96" cy="96"/>
            </a:xfrm>
          </p:grpSpPr>
          <p:sp>
            <p:nvSpPr>
              <p:cNvPr id="28" name="Line 54"/>
              <p:cNvSpPr>
                <a:spLocks noChangeShapeType="1"/>
              </p:cNvSpPr>
              <p:nvPr/>
            </p:nvSpPr>
            <p:spPr bwMode="auto">
              <a:xfrm>
                <a:off x="3360" y="288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55"/>
              <p:cNvSpPr>
                <a:spLocks noChangeShapeType="1"/>
              </p:cNvSpPr>
              <p:nvPr/>
            </p:nvSpPr>
            <p:spPr bwMode="auto">
              <a:xfrm rot="-5400000">
                <a:off x="3360" y="288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7" name="Text Box 56"/>
            <p:cNvSpPr txBox="1">
              <a:spLocks noChangeArrowheads="1"/>
            </p:cNvSpPr>
            <p:nvPr/>
          </p:nvSpPr>
          <p:spPr bwMode="auto">
            <a:xfrm rot="5400000">
              <a:off x="2550" y="1119"/>
              <a:ext cx="2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a typeface="楷体_GB2312" panose="02010609030101010101" pitchFamily="49" charset="-122"/>
                </a:rPr>
                <a:t>8</a:t>
              </a:r>
              <a:endParaRPr lang="en-US" altLang="zh-CN" b="1">
                <a:ea typeface="楷体_GB2312" panose="02010609030101010101" pitchFamily="49" charset="-122"/>
              </a:endParaRPr>
            </a:p>
          </p:txBody>
        </p:sp>
      </p:grpSp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125" y="2705100"/>
            <a:ext cx="2392680" cy="1744345"/>
          </a:xfrm>
          <a:prstGeom prst="rect">
            <a:avLst/>
          </a:prstGeom>
        </p:spPr>
      </p:pic>
      <p:pic>
        <p:nvPicPr>
          <p:cNvPr id="35" name="图片 34" descr="timg (15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090" y="315595"/>
            <a:ext cx="2440305" cy="1933575"/>
          </a:xfrm>
          <a:prstGeom prst="rect">
            <a:avLst/>
          </a:prstGeom>
        </p:spPr>
      </p:pic>
      <p:sp>
        <p:nvSpPr>
          <p:cNvPr id="36" name="内容占位符 35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u=3128672339,2786905849&amp;fm=26&amp;gp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494030"/>
            <a:ext cx="2713990" cy="1815465"/>
          </a:xfrm>
          <a:prstGeom prst="rect">
            <a:avLst/>
          </a:prstGeom>
        </p:spPr>
      </p:pic>
      <p:pic>
        <p:nvPicPr>
          <p:cNvPr id="5" name="图片 4" descr="timg (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945" y="558165"/>
            <a:ext cx="2818765" cy="1870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25295" y="2467610"/>
            <a:ext cx="24384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FF0000"/>
                </a:solidFill>
              </a:rPr>
              <a:t>单运放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47790" y="2529205"/>
            <a:ext cx="1866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FF0000"/>
                </a:solidFill>
              </a:rPr>
              <a:t>双运放</a:t>
            </a:r>
            <a:endParaRPr lang="zh-CN" altLang="en-US" sz="4000">
              <a:solidFill>
                <a:srgbClr val="FF0000"/>
              </a:solidFill>
            </a:endParaRPr>
          </a:p>
        </p:txBody>
      </p:sp>
      <p:pic>
        <p:nvPicPr>
          <p:cNvPr id="8" name="图片 7" descr="timg (1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460" y="532130"/>
            <a:ext cx="2276475" cy="18961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229090" y="2498090"/>
            <a:ext cx="19716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FF0000"/>
                </a:solidFill>
              </a:rPr>
              <a:t>四运放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5699125"/>
            <a:ext cx="1842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直插封装（</a:t>
            </a:r>
            <a:r>
              <a:rPr lang="en-US" altLang="zh-CN">
                <a:solidFill>
                  <a:srgbClr val="FF0000"/>
                </a:solidFill>
              </a:rPr>
              <a:t>DIP8</a:t>
            </a:r>
            <a:r>
              <a:rPr lang="zh-CN" altLang="en-US">
                <a:solidFill>
                  <a:srgbClr val="FF0000"/>
                </a:solidFill>
              </a:rPr>
              <a:t>为例）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0" name="图片 9" descr="timg (16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8645" y="3332480"/>
            <a:ext cx="2842895" cy="19335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25775" y="5699125"/>
            <a:ext cx="2524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</a:rPr>
              <a:t>贴片封装（</a:t>
            </a:r>
            <a:r>
              <a:rPr lang="en-US" altLang="zh-CN">
                <a:solidFill>
                  <a:srgbClr val="FF0000"/>
                </a:solidFill>
              </a:rPr>
              <a:t>sop8</a:t>
            </a:r>
            <a:r>
              <a:rPr lang="zh-CN" altLang="en-US">
                <a:solidFill>
                  <a:srgbClr val="FF0000"/>
                </a:solidFill>
              </a:rPr>
              <a:t>为例）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2" name="图片 11" descr="QQ图片201910072232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5445" y="451485"/>
            <a:ext cx="2825115" cy="1858010"/>
          </a:xfrm>
          <a:prstGeom prst="rect">
            <a:avLst/>
          </a:prstGeom>
        </p:spPr>
      </p:pic>
      <p:pic>
        <p:nvPicPr>
          <p:cNvPr id="15" name="内容占位符 14"/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2" y="3088283"/>
            <a:ext cx="2484755" cy="242347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683" y="241963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7200">
                <a:solidFill>
                  <a:srgbClr val="FF0000"/>
                </a:solidFill>
              </a:rPr>
              <a:t>集成运算放大器内部结构</a:t>
            </a:r>
            <a:endParaRPr lang="zh-CN" altLang="en-US" sz="7200">
              <a:solidFill>
                <a:srgbClr val="FF0000"/>
              </a:solidFill>
            </a:endParaRPr>
          </a:p>
        </p:txBody>
      </p:sp>
      <p:pic>
        <p:nvPicPr>
          <p:cNvPr id="4" name="图片 3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21875" y="5407660"/>
            <a:ext cx="924560" cy="14084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CN" altLang="en-US" sz="7200">
              <a:solidFill>
                <a:srgbClr val="FF0000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966325" y="6008370"/>
            <a:ext cx="323215" cy="432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200" b="1">
                <a:solidFill>
                  <a:schemeClr val="bg1"/>
                </a:solidFill>
                <a:hlinkClick r:id="rId5" action="ppaction://hlinksldjump"/>
              </a:rPr>
              <a:t>回</a:t>
            </a:r>
            <a:endParaRPr lang="zh-CN" altLang="en-US" sz="7200" b="1">
              <a:solidFill>
                <a:schemeClr val="bg1"/>
              </a:solidFill>
            </a:endParaRPr>
          </a:p>
        </p:txBody>
      </p:sp>
      <p:pic>
        <p:nvPicPr>
          <p:cNvPr id="6" name="图片 5" descr="32fa7ac9fae30323622beea4719ee72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420" y="1377950"/>
            <a:ext cx="8674735" cy="5438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77765" y="2673985"/>
            <a:ext cx="1708785" cy="566420"/>
          </a:xfrm>
        </p:spPr>
        <p:txBody>
          <a:bodyPr>
            <a:normAutofit fontScale="90000"/>
          </a:bodyPr>
          <a:lstStyle/>
          <a:p>
            <a:r>
              <a:rPr lang="en-GB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zh-CN" altLang="en-US" dirty="0"/>
              <a:t>                                                    </a:t>
            </a:r>
            <a:endParaRPr lang="zh-CN" altLang="en-US" dirty="0"/>
          </a:p>
        </p:txBody>
      </p:sp>
      <p:pic>
        <p:nvPicPr>
          <p:cNvPr id="6" name="图片 5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7" name="内容占位符 2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0" y="804545"/>
            <a:ext cx="3967480" cy="227393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9" name="标题 1"/>
          <p:cNvSpPr>
            <a:spLocks noGrp="1"/>
          </p:cNvSpPr>
          <p:nvPr/>
        </p:nvSpPr>
        <p:spPr>
          <a:xfrm>
            <a:off x="635" y="2496820"/>
            <a:ext cx="12063730" cy="44310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 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     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集成运放有同相输入端（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U</a:t>
            </a: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p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）和反相输入端（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U</a:t>
            </a: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n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）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,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此处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“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同相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”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、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“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反相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”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是指运放的输入电压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U</a:t>
            </a: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p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、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U</a:t>
            </a: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n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与输出电压</a:t>
            </a:r>
            <a:r>
              <a:rPr kumimoji="0" lang="en-US" altLang="zh-CN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U</a:t>
            </a: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o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之间的相位关系。</a:t>
            </a:r>
            <a:endParaRPr kumimoji="0" lang="zh-CN" altLang="en-US" sz="3000" b="0" i="0" u="none" strike="noStrike" kern="1200" cap="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（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同相：输入升，输出升；反相：输入升，输出反而降。</a:t>
            </a:r>
            <a:r>
              <a:rPr kumimoji="0" lang="zh-CN" altLang="en-US" sz="3000" b="0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）</a:t>
            </a:r>
            <a:endParaRPr kumimoji="0" lang="zh-CN" altLang="en-US" sz="3000" b="0" i="0" u="none" strike="noStrike" kern="1200" cap="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          </a:t>
            </a:r>
            <a:r>
              <a:rPr kumimoji="0" lang="zh-CN" altLang="en-US" sz="3000" b="0" i="0" u="none" strike="noStrike" kern="1200" cap="all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从外部看，可以认为集成运放是一个双端输入、单端输出，具有高差模放大倍数，高输入电阻，低输出电阻，可较好抑制外界干扰的差分放大电路。</a:t>
            </a:r>
            <a:endParaRPr kumimoji="0" lang="en-US" altLang="zh-CN" sz="3000" b="0" i="0" u="none" strike="noStrike" kern="1200" cap="all" spc="0" normalizeH="0" baseline="-250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i="0" u="none" strike="noStrike" kern="1200" cap="all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j-cs"/>
              </a:rPr>
              <a:t> </a:t>
            </a:r>
            <a:endParaRPr kumimoji="0" lang="en-US" altLang="zh-CN" sz="3000" b="0" i="0" u="none" strike="noStrike" kern="1200" cap="all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3200" y="195580"/>
            <a:ext cx="401891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集成运算放大器图形符号：</a:t>
            </a:r>
            <a:endParaRPr kumimoji="0" lang="zh-CN" altLang="en-US" sz="25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72" y="226695"/>
            <a:ext cx="7512776" cy="431165"/>
          </a:xfrm>
        </p:spPr>
        <p:txBody>
          <a:bodyPr>
            <a:noAutofit/>
          </a:bodyPr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</a:rPr>
              <a:t>集成运算放大器的理想特性：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pic>
        <p:nvPicPr>
          <p:cNvPr id="4" name="图片 3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51790" y="657860"/>
            <a:ext cx="11127740" cy="6308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开环电压放大倍数无穷大；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r>
              <a:rPr lang="en-US" altLang="zh-CN" sz="2800" b="1" dirty="0" err="1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uo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= </a:t>
            </a:r>
            <a:r>
              <a:rPr lang="en-US" altLang="zh-CN" sz="2800" b="1" dirty="0" err="1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Aod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en-US" altLang="zh-CN" sz="2800" b="1" dirty="0" err="1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uP-uN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</a:t>
            </a:r>
            <a:r>
              <a:rPr lang="en-US" altLang="zh-CN" sz="28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Aod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高达几十万倍，而运放的输出电压范围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Uo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是有范围的，所以集成运放工作在线性区时的最大输入电压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zh-CN" sz="2800" b="1" dirty="0" err="1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uP-uN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)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的数值仅为几十到一百多微伏。（理想运放</a:t>
            </a:r>
            <a:r>
              <a:rPr lang="en-US" altLang="zh-CN" sz="2800" b="1" dirty="0" err="1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Aod-&gt;∞</a:t>
            </a:r>
            <a:r>
              <a:rPr lang="zh-CN" altLang="en-US" sz="2800" b="1" dirty="0" err="1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）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endParaRPr lang="zh-CN" altLang="en-US" sz="2800" b="1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开环差模输入电阻无穷大；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lang="zh-CN" altLang="zh-CN" sz="2800" b="1" dirty="0">
                <a:solidFill>
                  <a:srgbClr val="000000"/>
                </a:solidFill>
                <a:latin typeface="Arial Unicode MS" panose="020B0604020202020204" charset="-122"/>
              </a:rPr>
              <a:t>输入电阻越大，</a:t>
            </a:r>
            <a:r>
              <a:rPr lang="zh-CN" altLang="zh-CN" sz="2800" b="1" dirty="0">
                <a:solidFill>
                  <a:srgbClr val="000000"/>
                </a:solidFill>
                <a:highlight>
                  <a:srgbClr val="FFFF00"/>
                </a:highlight>
                <a:latin typeface="Arial Unicode MS" panose="020B0604020202020204" charset="-122"/>
              </a:rPr>
              <a:t>落到放大器上的电压就越大</a:t>
            </a:r>
            <a:r>
              <a:rPr lang="zh-CN" altLang="zh-CN" sz="2800" b="1" dirty="0">
                <a:solidFill>
                  <a:srgbClr val="000000"/>
                </a:solidFill>
                <a:latin typeface="Arial Unicode MS" panose="020B0604020202020204" charset="-122"/>
              </a:rPr>
              <a:t>，</a:t>
            </a:r>
            <a:endParaRPr lang="zh-CN" altLang="zh-CN" sz="2800" b="1" dirty="0">
              <a:solidFill>
                <a:srgbClr val="000000"/>
              </a:solidFill>
              <a:latin typeface="Arial Unicode MS" panose="020B0604020202020204" charset="-122"/>
            </a:endParaRPr>
          </a:p>
          <a:p>
            <a:pPr>
              <a:defRPr/>
            </a:pPr>
            <a:r>
              <a:rPr lang="zh-CN" altLang="zh-CN" sz="2800" b="1" dirty="0">
                <a:solidFill>
                  <a:srgbClr val="000000"/>
                </a:solidFill>
                <a:latin typeface="Arial Unicode MS" panose="020B0604020202020204" charset="-122"/>
              </a:rPr>
              <a:t>越接近信号源上的电压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  <a:endParaRPr lang="en-US" altLang="zh-CN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defRPr/>
            </a:pP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开环输出电阻为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；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运放的输出端相当于一个 “理想电压源”，能为外部负载（比如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后级电路、扬声器等）提供稳定的输出电压。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655" y="2978150"/>
            <a:ext cx="4295140" cy="2462530"/>
          </a:xfrm>
        </p:spPr>
      </p:pic>
      <p:sp>
        <p:nvSpPr>
          <p:cNvPr id="5" name="文本框 4"/>
          <p:cNvSpPr txBox="1"/>
          <p:nvPr/>
        </p:nvSpPr>
        <p:spPr>
          <a:xfrm>
            <a:off x="10068560" y="2764155"/>
            <a:ext cx="1854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highlight>
                  <a:srgbClr val="000000"/>
                </a:highlight>
              </a:rPr>
              <a:t>1.</a:t>
            </a:r>
            <a:r>
              <a:rPr lang="zh-CN" altLang="en-US" sz="4000">
                <a:highlight>
                  <a:srgbClr val="000000"/>
                </a:highlight>
              </a:rPr>
              <a:t>开</a:t>
            </a:r>
            <a:r>
              <a:rPr lang="en-US" altLang="zh-CN" sz="4000">
                <a:highlight>
                  <a:srgbClr val="000000"/>
                </a:highlight>
              </a:rPr>
              <a:t> </a:t>
            </a:r>
            <a:r>
              <a:rPr lang="zh-CN" altLang="en-US" sz="4000">
                <a:highlight>
                  <a:srgbClr val="000000"/>
                </a:highlight>
              </a:rPr>
              <a:t>环</a:t>
            </a:r>
            <a:endParaRPr lang="zh-CN" altLang="en-US" sz="4000">
              <a:highlight>
                <a:srgbClr val="0000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9436" y="166502"/>
            <a:ext cx="4429628" cy="816610"/>
          </a:xfrm>
        </p:spPr>
        <p:txBody>
          <a:bodyPr/>
          <a:lstStyle/>
          <a:p>
            <a:r>
              <a:rPr lang="zh-CN" altLang="en-US" sz="3000" dirty="0">
                <a:solidFill>
                  <a:schemeClr val="bg1"/>
                </a:solidFill>
              </a:rPr>
              <a:t>集成运放的两个工作区</a:t>
            </a:r>
            <a:endParaRPr lang="zh-CN" altLang="en-US" sz="30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458425"/>
            <a:ext cx="6160770" cy="3454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线性区：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非常窄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o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= A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od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P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-u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N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,A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od</a:t>
            </a:r>
            <a:r>
              <a:rPr lang="zh-CN" altLang="en-US" sz="25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高达几十万倍，所以集成运放工作在线性区时的最大输入电压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P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-u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N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)</a:t>
            </a:r>
            <a:r>
              <a:rPr lang="zh-CN" altLang="en-US" sz="25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的数值仅为几十到一百多微伏。</a:t>
            </a:r>
            <a:endParaRPr lang="zh-CN" altLang="en-US" sz="2500" b="1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有负反馈则工作在线性区，如</a:t>
            </a:r>
            <a:r>
              <a:rPr lang="en-US" altLang="zh-CN" sz="2500" b="1" dirty="0">
                <a:solidFill>
                  <a:srgbClr val="FF0000"/>
                </a:solidFill>
                <a:latin typeface="+mn-ea"/>
              </a:rPr>
              <a:t>: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同相、反相、差分放大电路等都工作在线性区域</a:t>
            </a:r>
            <a:endParaRPr lang="zh-CN" altLang="en-US" sz="25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6" y="1094836"/>
            <a:ext cx="3733924" cy="21402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0166" y="1485437"/>
            <a:ext cx="346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err="1">
                <a:solidFill>
                  <a:srgbClr val="FF0000"/>
                </a:solidFill>
              </a:rPr>
              <a:t>u</a:t>
            </a:r>
            <a:r>
              <a:rPr lang="en-US" altLang="zh-CN" sz="900" b="1" i="1" dirty="0" err="1">
                <a:solidFill>
                  <a:srgbClr val="FF0000"/>
                </a:solidFill>
              </a:rPr>
              <a:t>p</a:t>
            </a:r>
            <a:endParaRPr lang="en-US" altLang="zh-CN" sz="900" b="1" i="1" dirty="0" err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2386" y="2286247"/>
            <a:ext cx="3644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err="1">
                <a:solidFill>
                  <a:srgbClr val="FF0000"/>
                </a:solidFill>
              </a:rPr>
              <a:t>u</a:t>
            </a:r>
            <a:r>
              <a:rPr lang="en-US" altLang="zh-CN" sz="900" b="1" i="1" dirty="0" err="1">
                <a:solidFill>
                  <a:srgbClr val="FF0000"/>
                </a:solidFill>
              </a:rPr>
              <a:t>N</a:t>
            </a:r>
            <a:endParaRPr lang="en-US" sz="9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522596" y="3458017"/>
            <a:ext cx="524065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500" b="1" dirty="0">
                <a:solidFill>
                  <a:srgbClr val="FF0000"/>
                </a:solidFill>
              </a:rPr>
              <a:t>非线性区</a:t>
            </a:r>
            <a:r>
              <a:rPr lang="zh-CN" altLang="en-US" sz="2500" dirty="0">
                <a:solidFill>
                  <a:srgbClr val="FF0000"/>
                </a:solidFill>
              </a:rPr>
              <a:t>：</a:t>
            </a:r>
            <a:endParaRPr lang="en-US" altLang="zh-CN" sz="2500" dirty="0">
              <a:solidFill>
                <a:srgbClr val="FF0000"/>
              </a:solidFill>
            </a:endParaRPr>
          </a:p>
          <a:p>
            <a:endParaRPr lang="en-US" altLang="zh-CN" sz="2500" dirty="0">
              <a:solidFill>
                <a:srgbClr val="FF0000"/>
              </a:solidFill>
            </a:endParaRPr>
          </a:p>
          <a:p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(u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P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-u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N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)</a:t>
            </a:r>
            <a:r>
              <a:rPr lang="zh-CN" altLang="en-US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大于一定值时，输出不是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+U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OM</a:t>
            </a:r>
            <a:r>
              <a:rPr lang="zh-CN" altLang="en-US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就是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-U</a:t>
            </a:r>
            <a:r>
              <a:rPr lang="en-US" altLang="zh-CN" sz="1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OM</a:t>
            </a:r>
            <a:r>
              <a:rPr lang="en-US" altLang="zh-CN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.</a:t>
            </a:r>
            <a:r>
              <a:rPr lang="zh-CN" altLang="en-US" sz="2500" b="1" dirty="0">
                <a:solidFill>
                  <a:schemeClr val="bg2">
                    <a:lumMod val="50000"/>
                  </a:schemeClr>
                </a:solidFill>
                <a:latin typeface="+mn-ea"/>
                <a:sym typeface="+mn-ea"/>
              </a:rPr>
              <a:t>（ “饱和” 为电源允许的最大值）</a:t>
            </a:r>
            <a:endParaRPr lang="en-US" altLang="zh-CN" sz="2500" b="1" dirty="0">
              <a:solidFill>
                <a:schemeClr val="bg2">
                  <a:lumMod val="50000"/>
                </a:schemeClr>
              </a:solidFill>
              <a:latin typeface="+mn-ea"/>
              <a:sym typeface="+mn-ea"/>
            </a:endParaRPr>
          </a:p>
          <a:p>
            <a:r>
              <a:rPr lang="zh-CN" altLang="en-US" sz="2500" b="1" dirty="0">
                <a:solidFill>
                  <a:srgbClr val="FF0000"/>
                </a:solidFill>
                <a:latin typeface="+mn-ea"/>
                <a:sym typeface="+mn-ea"/>
              </a:rPr>
              <a:t>无反馈</a:t>
            </a:r>
            <a:r>
              <a:rPr lang="en-US" altLang="zh-CN" sz="2500" b="1" dirty="0">
                <a:solidFill>
                  <a:srgbClr val="FF0000"/>
                </a:solidFill>
                <a:latin typeface="+mn-ea"/>
                <a:sym typeface="+mn-ea"/>
              </a:rPr>
              <a:t>(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  <a:sym typeface="+mn-ea"/>
              </a:rPr>
              <a:t>开环</a:t>
            </a:r>
            <a:r>
              <a:rPr lang="en-US" altLang="zh-CN" sz="2500" b="1" dirty="0">
                <a:solidFill>
                  <a:srgbClr val="FF0000"/>
                </a:solidFill>
                <a:latin typeface="+mn-ea"/>
                <a:sym typeface="+mn-ea"/>
              </a:rPr>
              <a:t>)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  <a:sym typeface="+mn-ea"/>
              </a:rPr>
              <a:t>或正反馈时则工作在非线性区，如：比较器、振荡电路都属于这类</a:t>
            </a:r>
            <a:endParaRPr lang="zh-CN" altLang="en-US" sz="2500" b="1" dirty="0">
              <a:solidFill>
                <a:srgbClr val="FF0000"/>
              </a:solidFill>
              <a:latin typeface="+mn-ea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557647"/>
            <a:ext cx="5734685" cy="2635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17982" y="5826405"/>
            <a:ext cx="7305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hlinkClick r:id="rId3" action="ppaction://hlinksldjump"/>
              </a:rPr>
              <a:t>回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09567" y="328930"/>
            <a:ext cx="8172865" cy="5497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8930" y="551180"/>
            <a:ext cx="11504295" cy="27819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+mn-cs"/>
              </a:rPr>
              <a:t>零点漂移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+mn-cs"/>
              </a:rPr>
              <a:t>（零漂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+mn-cs"/>
              </a:rPr>
              <a:t>温漂）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指当放大电路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highlight>
                  <a:srgbClr val="FFFF00"/>
                </a:highlight>
                <a:latin typeface="-apple-system"/>
              </a:rPr>
              <a:t>输入信号为零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（即没有</a:t>
            </a:r>
            <a:endParaRPr lang="zh-CN" altLang="en-US" sz="32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交流电输入）时，由于受温度变化，电源电压不稳等因素，使</a:t>
            </a:r>
            <a:r>
              <a:rPr lang="zh-CN" altLang="en-US" sz="3200" b="0" i="0" dirty="0">
                <a:solidFill>
                  <a:srgbClr val="FF0000"/>
                </a:solidFill>
                <a:effectLst/>
                <a:latin typeface="-apple-system"/>
              </a:rPr>
              <a:t>静</a:t>
            </a:r>
            <a:endParaRPr lang="zh-CN" altLang="en-US" sz="3200" b="0" i="0" dirty="0">
              <a:solidFill>
                <a:srgbClr val="FF0000"/>
              </a:solidFill>
              <a:effectLst/>
              <a:highlight>
                <a:srgbClr val="FFFF00"/>
              </a:highlight>
              <a:latin typeface="-apple-system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-apple-system"/>
              </a:rPr>
              <a:t>态工作点</a:t>
            </a:r>
            <a:r>
              <a:rPr lang="zh-CN" altLang="en-US" sz="3200" b="0" i="0" dirty="0">
                <a:solidFill>
                  <a:srgbClr val="FF0000"/>
                </a:solidFill>
                <a:effectLst/>
                <a:latin typeface="-apple-system"/>
              </a:rPr>
              <a:t>（</a:t>
            </a:r>
            <a:r>
              <a:rPr lang="zh-CN" altLang="en-US" sz="3200" i="0" dirty="0">
                <a:solidFill>
                  <a:srgbClr val="11111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也就是运放电路在没有输入信号时的电压和电流状态</a:t>
            </a:r>
            <a:r>
              <a:rPr lang="zh-CN" altLang="en-US" sz="3200" b="0" i="0" dirty="0">
                <a:solidFill>
                  <a:srgbClr val="FF0000"/>
                </a:solidFill>
                <a:effectLst/>
                <a:latin typeface="-apple-system"/>
              </a:rPr>
              <a:t>）</a:t>
            </a:r>
            <a:endParaRPr lang="zh-CN" altLang="en-US" sz="3200" b="0" i="0" dirty="0">
              <a:solidFill>
                <a:srgbClr val="FF0000"/>
              </a:solidFill>
              <a:effectLst/>
              <a:latin typeface="-apple-system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0" i="0" dirty="0">
                <a:solidFill>
                  <a:srgbClr val="4D4D4D"/>
                </a:solidFill>
                <a:effectLst/>
                <a:highlight>
                  <a:srgbClr val="FFFF00"/>
                </a:highlight>
                <a:latin typeface="-apple-system"/>
              </a:rPr>
              <a:t>发生变化，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并被逐级放大和传输，导致电路输出端电压偏离原固</a:t>
            </a:r>
            <a:endParaRPr lang="zh-CN" altLang="en-US" sz="32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定值而上下漂动的现象</a:t>
            </a:r>
            <a:r>
              <a:rPr lang="zh-CN" altLang="en-US" sz="3200" dirty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latin typeface="-apple-system"/>
              </a:rPr>
              <a:t>它又被简称为：</a:t>
            </a:r>
            <a:r>
              <a:rPr lang="zh-CN" altLang="en-US" sz="3200" b="0" i="0" dirty="0">
                <a:solidFill>
                  <a:srgbClr val="4D4D4D"/>
                </a:solidFill>
                <a:effectLst/>
                <a:highlight>
                  <a:srgbClr val="FFFF00"/>
                </a:highlight>
                <a:latin typeface="-apple-system"/>
              </a:rPr>
              <a:t>零漂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highlight>
                <a:srgbClr val="FFFF00"/>
              </a:highlight>
              <a:uLnTx/>
              <a:uFillTx/>
              <a:latin typeface="-apple-syste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7210" y="4135755"/>
            <a:ext cx="1108837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0000"/>
                </a:solidFill>
                <a:latin typeface="Tw Cen MT" panose="020B0602020104020603"/>
                <a:ea typeface="宋体" panose="02010600030101010101" pitchFamily="2" charset="-122"/>
              </a:rPr>
              <a:t>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漂移现象严重的情况下，往往会使有效信号“淹没”，使放大电路不能正常工作。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  <a:t>一般可以选用高质量电源以及好的元件抑制温漂，此外还有补偿和调制两种方法。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6980" y="3237230"/>
            <a:ext cx="41592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zh-CN" sz="4000" b="1" dirty="0" err="1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  <a:latin typeface="+mn-ea"/>
              </a:rPr>
              <a:t>uo</a:t>
            </a:r>
            <a:r>
              <a:rPr lang="en-US" altLang="zh-CN" sz="4000" b="1" dirty="0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  <a:latin typeface="+mn-ea"/>
              </a:rPr>
              <a:t> = </a:t>
            </a:r>
            <a:r>
              <a:rPr lang="en-US" altLang="zh-CN" sz="4000" b="1" dirty="0" err="1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  <a:latin typeface="+mn-ea"/>
              </a:rPr>
              <a:t>Aod</a:t>
            </a:r>
            <a:r>
              <a:rPr lang="en-US" altLang="zh-CN" sz="4000" b="1" dirty="0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en-US" altLang="zh-CN" sz="4000" b="1" dirty="0" err="1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  <a:latin typeface="+mn-ea"/>
              </a:rPr>
              <a:t>uP-uN</a:t>
            </a:r>
            <a:r>
              <a:rPr lang="en-US" altLang="zh-CN" sz="4000" b="1" dirty="0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  <a:latin typeface="+mn-ea"/>
              </a:rPr>
              <a:t>)</a:t>
            </a:r>
            <a:endParaRPr lang="en-US" altLang="zh-CN" sz="4000" b="1" dirty="0">
              <a:solidFill>
                <a:schemeClr val="bg2">
                  <a:lumMod val="50000"/>
                </a:schemeClr>
              </a:solidFill>
              <a:highlight>
                <a:srgbClr val="FF0000"/>
              </a:highlight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1412" y="412317"/>
            <a:ext cx="9905998" cy="147857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集成运放的特点：高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电压增益</a:t>
            </a:r>
            <a:r>
              <a:rPr lang="zh-CN" altLang="en-US" dirty="0">
                <a:solidFill>
                  <a:srgbClr val="FF0000"/>
                </a:solidFill>
              </a:rPr>
              <a:t>（放大倍数高），       高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输入阻抗</a:t>
            </a:r>
            <a:r>
              <a:rPr lang="zh-CN" altLang="en-US" dirty="0">
                <a:solidFill>
                  <a:srgbClr val="FF0000"/>
                </a:solidFill>
              </a:rPr>
              <a:t> 低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输出阻抗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2047" y="1890887"/>
            <a:ext cx="7112759" cy="444225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虚断：理想运放的输入电阻</a:t>
            </a:r>
            <a:r>
              <a:rPr lang="en-US" altLang="zh-CN" b="1" i="1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-250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id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为无穷大，输出电阻</a:t>
            </a:r>
            <a:r>
              <a:rPr lang="en-US" altLang="zh-CN" b="1" i="1" dirty="0">
                <a:solidFill>
                  <a:srgbClr val="FF0066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baseline="-25000" dirty="0">
                <a:solidFill>
                  <a:srgbClr val="FF0066"/>
                </a:solidFill>
                <a:sym typeface="Symbol" panose="05050102010706020507" pitchFamily="18" charset="2"/>
              </a:rPr>
              <a:t>o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为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，开环放大倍数</a:t>
            </a:r>
            <a:r>
              <a:rPr lang="en-US" altLang="zh-CN" b="1" i="1" dirty="0" err="1">
                <a:solidFill>
                  <a:srgbClr val="FF0066"/>
                </a:solidFill>
              </a:rPr>
              <a:t>A</a:t>
            </a:r>
            <a:r>
              <a:rPr lang="en-US" altLang="zh-CN" b="1" baseline="-25000" dirty="0" err="1">
                <a:solidFill>
                  <a:srgbClr val="FF0066"/>
                </a:solidFill>
              </a:rPr>
              <a:t>ud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为无穷大，所以理想运放的同相和反相输入端电流近似为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，电路好像是断开的，称之为“虚断”。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虚短：根据</a:t>
            </a:r>
            <a:r>
              <a:rPr lang="en-US" altLang="zh-CN" b="1" i="1" dirty="0" err="1">
                <a:solidFill>
                  <a:srgbClr val="FF0000"/>
                </a:solidFill>
                <a:highlight>
                  <a:srgbClr val="FFFF00"/>
                </a:highlight>
              </a:rPr>
              <a:t>u</a:t>
            </a:r>
            <a:r>
              <a:rPr lang="en-US" altLang="zh-CN" b="1" baseline="-25000" dirty="0" err="1">
                <a:solidFill>
                  <a:srgbClr val="FF0000"/>
                </a:solidFill>
                <a:highlight>
                  <a:srgbClr val="FFFF00"/>
                </a:highlight>
              </a:rPr>
              <a:t>O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＝</a:t>
            </a:r>
            <a:r>
              <a:rPr lang="en-US" altLang="zh-CN" b="1" i="1" dirty="0" err="1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r>
              <a:rPr lang="en-US" altLang="zh-CN" b="1" baseline="-25000" dirty="0" err="1">
                <a:solidFill>
                  <a:srgbClr val="FF0000"/>
                </a:solidFill>
                <a:highlight>
                  <a:srgbClr val="FFFF00"/>
                </a:highlight>
              </a:rPr>
              <a:t>od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highlight>
                  <a:srgbClr val="FFFF00"/>
                </a:highlight>
              </a:rPr>
              <a:t>u</a:t>
            </a:r>
            <a:r>
              <a:rPr lang="en-US" altLang="zh-CN" b="1" baseline="-25000" dirty="0">
                <a:solidFill>
                  <a:srgbClr val="FF0000"/>
                </a:solidFill>
                <a:highlight>
                  <a:srgbClr val="FFFF00"/>
                </a:highlight>
              </a:rPr>
              <a:t>+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highlight>
                  <a:srgbClr val="FFFF00"/>
                </a:highlight>
              </a:rPr>
              <a:t>u</a:t>
            </a:r>
            <a:r>
              <a:rPr lang="en-US" altLang="zh-CN" b="1" baseline="-25000" dirty="0">
                <a:solidFill>
                  <a:srgbClr val="FF0000"/>
                </a:solidFill>
                <a:highlight>
                  <a:srgbClr val="FFFF00"/>
                </a:highlight>
              </a:rPr>
              <a:t>-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由于输出电压</a:t>
            </a:r>
            <a:r>
              <a:rPr lang="en-US" altLang="zh-CN" b="1" i="1" dirty="0" err="1">
                <a:solidFill>
                  <a:srgbClr val="FF0000"/>
                </a:solidFill>
              </a:rPr>
              <a:t>u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O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是一个有限值且</a:t>
            </a:r>
            <a:r>
              <a:rPr lang="en-US" altLang="zh-CN" b="1" i="1" dirty="0" err="1">
                <a:solidFill>
                  <a:srgbClr val="FF0000"/>
                </a:solidFill>
              </a:rPr>
              <a:t>A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od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    ∞因此</a:t>
            </a:r>
            <a:r>
              <a:rPr lang="en-US" altLang="zh-CN" b="1" i="1" dirty="0">
                <a:solidFill>
                  <a:srgbClr val="FF0000"/>
                </a:solidFill>
              </a:rPr>
              <a:t>u</a:t>
            </a:r>
            <a:r>
              <a:rPr lang="en-US" altLang="zh-CN" b="1" baseline="-25000" dirty="0">
                <a:solidFill>
                  <a:srgbClr val="FF0000"/>
                </a:solidFill>
              </a:rPr>
              <a:t>+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u</a:t>
            </a:r>
            <a:r>
              <a:rPr lang="en-US" altLang="zh-CN" sz="2000" b="1" i="1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之差趋近于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，即同相输入端和反相输入的电位趋于相等。电路好像是短路的称之为“虚短”。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图片 4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056255" y="4479290"/>
            <a:ext cx="335915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806" y="1544711"/>
            <a:ext cx="3845396" cy="2190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545445" y="1129665"/>
            <a:ext cx="13087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chemeClr val="tx1"/>
                </a:solidFill>
                <a:highlight>
                  <a:srgbClr val="000000"/>
                </a:highlight>
              </a:rPr>
              <a:t>2.</a:t>
            </a:r>
            <a:r>
              <a:rPr lang="zh-CN" altLang="en-US" sz="3200">
                <a:solidFill>
                  <a:schemeClr val="tx1"/>
                </a:solidFill>
                <a:highlight>
                  <a:srgbClr val="000000"/>
                </a:highlight>
              </a:rPr>
              <a:t>反馈</a:t>
            </a:r>
            <a:endParaRPr lang="zh-CN" altLang="en-US" sz="320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3000" y="1753970"/>
            <a:ext cx="9905999" cy="4456330"/>
          </a:xfrm>
        </p:spPr>
        <p:txBody>
          <a:bodyPr/>
          <a:lstStyle/>
          <a:p>
            <a:r>
              <a:rPr lang="zh-CN" altLang="en-US" sz="2800" b="1" i="1" dirty="0">
                <a:solidFill>
                  <a:schemeClr val="bg2">
                    <a:lumMod val="50000"/>
                  </a:schemeClr>
                </a:solidFill>
              </a:rPr>
              <a:t>虚断：</a:t>
            </a:r>
            <a:r>
              <a:rPr lang="en-US" altLang="zh-CN" sz="2800" b="1" i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US" altLang="zh-CN" sz="2800" b="1" baseline="-25000" dirty="0" err="1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=</a:t>
            </a:r>
            <a:r>
              <a:rPr lang="en-US" altLang="zh-CN" sz="2800" b="1" i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US" altLang="zh-CN" sz="2800" b="1" baseline="-25000" dirty="0" err="1">
                <a:solidFill>
                  <a:schemeClr val="bg2">
                    <a:lumMod val="50000"/>
                  </a:schemeClr>
                </a:solidFill>
              </a:rPr>
              <a:t>P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=0</a:t>
            </a:r>
            <a:endParaRPr lang="en-US" altLang="zh-CN" sz="2800" b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sz="2800" b="1" i="1" dirty="0">
                <a:solidFill>
                  <a:schemeClr val="bg2">
                    <a:lumMod val="50000"/>
                  </a:schemeClr>
                </a:solidFill>
              </a:rPr>
              <a:t>虚短：</a:t>
            </a:r>
            <a:r>
              <a:rPr lang="en-US" altLang="zh-CN" sz="2800" b="1" i="1" dirty="0" err="1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 err="1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=</a:t>
            </a:r>
            <a:r>
              <a:rPr lang="en-US" altLang="zh-CN" sz="2800" b="1" i="1" dirty="0" err="1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 err="1">
                <a:solidFill>
                  <a:schemeClr val="bg2">
                    <a:lumMod val="50000"/>
                  </a:schemeClr>
                </a:solidFill>
              </a:rPr>
              <a:t>P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=0</a:t>
            </a:r>
            <a:endParaRPr lang="en-US" altLang="zh-CN" sz="28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 b="1" dirty="0"/>
          </a:p>
          <a:p>
            <a:endParaRPr lang="zh-CN" altLang="en-US" dirty="0"/>
          </a:p>
        </p:txBody>
      </p:sp>
      <p:graphicFrame>
        <p:nvGraphicFramePr>
          <p:cNvPr id="4" name="Object 33"/>
          <p:cNvGraphicFramePr>
            <a:graphicFrameLocks noGrp="1" noChangeAspect="1"/>
          </p:cNvGraphicFramePr>
          <p:nvPr>
            <p:ph idx="1"/>
          </p:nvPr>
        </p:nvGraphicFramePr>
        <p:xfrm>
          <a:off x="6913677" y="287337"/>
          <a:ext cx="4471988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2" imgW="2717800" imgH="1524000" progId="Visio.Drawing.11">
                  <p:embed/>
                </p:oleObj>
              </mc:Choice>
              <mc:Fallback>
                <p:oleObj name="Visio" r:id="rId2" imgW="2717800" imgH="1524000" progId="Visio.Drawing.11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677" y="287337"/>
                        <a:ext cx="4471988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1379538" y="4383088"/>
          <a:ext cx="552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4" imgW="254000" imgH="228600" progId="Equation.DSMT4">
                  <p:embed/>
                </p:oleObj>
              </mc:Choice>
              <mc:Fallback>
                <p:oleObj name="Equation" r:id="rId4" imgW="2540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4383088"/>
                        <a:ext cx="5524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4189413" y="4286250"/>
          <a:ext cx="2852737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Microsoft 公式 3.0" r:id="rId6" imgW="1307465" imgH="393700" progId="Equation.3">
                  <p:embed/>
                </p:oleObj>
              </mc:Choice>
              <mc:Fallback>
                <p:oleObj name="Microsoft 公式 3.0" r:id="rId6" imgW="1307465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4286250"/>
                        <a:ext cx="2852737" cy="855663"/>
                      </a:xfrm>
                      <a:prstGeom prst="rect">
                        <a:avLst/>
                      </a:prstGeom>
                      <a:solidFill>
                        <a:srgbClr val="CC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2016022" y="4399847"/>
          <a:ext cx="4191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8" imgW="152400" imgH="228600" progId="Equation.DSMT4">
                  <p:embed/>
                </p:oleObj>
              </mc:Choice>
              <mc:Fallback>
                <p:oleObj name="Equation" r:id="rId8" imgW="1524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022" y="4399847"/>
                        <a:ext cx="4191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2355747" y="4218564"/>
          <a:ext cx="6794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0" imgW="304800" imgH="393065" progId="Equation.DSMT4">
                  <p:embed/>
                </p:oleObj>
              </mc:Choice>
              <mc:Fallback>
                <p:oleObj name="Equation" r:id="rId10" imgW="304800" imgH="39306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747" y="4218564"/>
                        <a:ext cx="6794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31735" y="440575"/>
            <a:ext cx="56775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</a:rPr>
              <a:t>反相比例运算放大电路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4" name="图片 13" descr="QQ图片201910072232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676609" y="882780"/>
            <a:ext cx="9461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 err="1">
                <a:solidFill>
                  <a:srgbClr val="FF0000"/>
                </a:solidFill>
              </a:rPr>
              <a:t>u</a:t>
            </a:r>
            <a:r>
              <a:rPr lang="en-US" altLang="zh-CN" sz="2800" b="1" baseline="-25000" dirty="0" err="1">
                <a:solidFill>
                  <a:srgbClr val="FF0000"/>
                </a:solidFill>
              </a:rPr>
              <a:t>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676609" y="1527662"/>
            <a:ext cx="6103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1" dirty="0" err="1">
                <a:solidFill>
                  <a:srgbClr val="FF0000"/>
                </a:solidFill>
              </a:rPr>
              <a:t>u</a:t>
            </a:r>
            <a:r>
              <a:rPr lang="en-US" altLang="zh-CN" sz="3200" b="1" baseline="-25000" dirty="0" err="1">
                <a:solidFill>
                  <a:srgbClr val="FF0000"/>
                </a:solidFill>
              </a:rPr>
              <a:t>P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7062817" y="359497"/>
          <a:ext cx="4364038" cy="268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2" imgW="2329180" imgH="1439545" progId="Visio.Drawing.11">
                  <p:embed/>
                </p:oleObj>
              </mc:Choice>
              <mc:Fallback>
                <p:oleObj name="Visio" r:id="rId2" imgW="2329180" imgH="1439545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817" y="359497"/>
                        <a:ext cx="4364038" cy="268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807903" y="1219921"/>
          <a:ext cx="21653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4" imgW="761365" imgH="228600" progId="Equation.DSMT4">
                  <p:embed/>
                </p:oleObj>
              </mc:Choice>
              <mc:Fallback>
                <p:oleObj name="Equation" r:id="rId4" imgW="761365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903" y="1219921"/>
                        <a:ext cx="216535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1618991" y="5082454"/>
          <a:ext cx="25781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6" imgW="1002665" imgH="431800" progId="Equation.DSMT4">
                  <p:embed/>
                </p:oleObj>
              </mc:Choice>
              <mc:Fallback>
                <p:oleObj name="Equation" r:id="rId6" imgW="1002665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991" y="5082454"/>
                        <a:ext cx="2578100" cy="1111250"/>
                      </a:xfrm>
                      <a:prstGeom prst="rect">
                        <a:avLst/>
                      </a:prstGeom>
                      <a:solidFill>
                        <a:srgbClr val="CC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252403" y="1956499"/>
          <a:ext cx="11366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8" imgW="393700" imgH="228600" progId="Equation.DSMT4">
                  <p:embed/>
                </p:oleObj>
              </mc:Choice>
              <mc:Fallback>
                <p:oleObj name="Equation" r:id="rId8" imgW="3937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403" y="1956499"/>
                        <a:ext cx="11366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1788853" y="3972602"/>
          <a:ext cx="223837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0" imgW="1040765" imgH="431800" progId="Equation.DSMT4">
                  <p:embed/>
                </p:oleObj>
              </mc:Choice>
              <mc:Fallback>
                <p:oleObj name="Equation" r:id="rId10" imgW="1040765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853" y="3972602"/>
                        <a:ext cx="223837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1823778" y="2783565"/>
          <a:ext cx="22034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2" imgW="837565" imgH="431800" progId="Equation.DSMT4">
                  <p:embed/>
                </p:oleObj>
              </mc:Choice>
              <mc:Fallback>
                <p:oleObj name="Equation" r:id="rId12" imgW="837565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3778" y="2783565"/>
                        <a:ext cx="22034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06335" y="440575"/>
            <a:ext cx="56775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</a:rPr>
              <a:t>同相比例运算放大电路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5" name="图片 14" descr="QQ图片2019100722320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 bwMode="auto">
          <a:xfrm>
            <a:off x="8370090" y="2598018"/>
            <a:ext cx="2767713" cy="1908493"/>
            <a:chOff x="3072" y="704"/>
            <a:chExt cx="1710" cy="1120"/>
          </a:xfrm>
        </p:grpSpPr>
        <p:sp>
          <p:nvSpPr>
            <p:cNvPr id="41" name="Line 3"/>
            <p:cNvSpPr>
              <a:spLocks noChangeShapeType="1"/>
            </p:cNvSpPr>
            <p:nvPr/>
          </p:nvSpPr>
          <p:spPr bwMode="auto">
            <a:xfrm rot="5400000" flipH="1">
              <a:off x="3048" y="1320"/>
              <a:ext cx="1008" cy="0"/>
            </a:xfrm>
            <a:prstGeom prst="line">
              <a:avLst/>
            </a:prstGeom>
            <a:ln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Line 4"/>
            <p:cNvSpPr>
              <a:spLocks noChangeShapeType="1"/>
            </p:cNvSpPr>
            <p:nvPr/>
          </p:nvSpPr>
          <p:spPr bwMode="auto">
            <a:xfrm>
              <a:off x="3072" y="1440"/>
              <a:ext cx="1440" cy="0"/>
            </a:xfrm>
            <a:prstGeom prst="line">
              <a:avLst/>
            </a:prstGeom>
            <a:ln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Text Box 5"/>
            <p:cNvSpPr txBox="1">
              <a:spLocks noChangeArrowheads="1"/>
            </p:cNvSpPr>
            <p:nvPr/>
          </p:nvSpPr>
          <p:spPr bwMode="auto">
            <a:xfrm>
              <a:off x="3330" y="1392"/>
              <a:ext cx="3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>
                  <a:solidFill>
                    <a:schemeClr val="bg2">
                      <a:lumMod val="50000"/>
                    </a:schemeClr>
                  </a:solidFill>
                </a:rPr>
                <a:t>O</a:t>
              </a:r>
              <a:endParaRPr lang="en-US" altLang="zh-CN" b="1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4" name="Rectangle 6"/>
            <p:cNvSpPr>
              <a:spLocks noChangeArrowheads="1"/>
            </p:cNvSpPr>
            <p:nvPr/>
          </p:nvSpPr>
          <p:spPr bwMode="auto">
            <a:xfrm>
              <a:off x="4512" y="1280"/>
              <a:ext cx="27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 err="1">
                  <a:solidFill>
                    <a:schemeClr val="bg2">
                      <a:lumMod val="50000"/>
                    </a:schemeClr>
                  </a:solidFill>
                </a:rPr>
                <a:t>u</a:t>
              </a:r>
              <a:r>
                <a:rPr lang="en-US" altLang="zh-CN" b="1" baseline="-25000" dirty="0" err="1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altLang="zh-CN" b="1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3216" y="704"/>
              <a:ext cx="3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 err="1">
                  <a:solidFill>
                    <a:schemeClr val="bg2">
                      <a:lumMod val="50000"/>
                    </a:schemeClr>
                  </a:solidFill>
                </a:rPr>
                <a:t>u</a:t>
              </a:r>
              <a:r>
                <a:rPr lang="en-US" altLang="zh-CN" b="1" baseline="-25000" dirty="0" err="1">
                  <a:solidFill>
                    <a:schemeClr val="bg2">
                      <a:lumMod val="50000"/>
                    </a:schemeClr>
                  </a:solidFill>
                </a:rPr>
                <a:t>O</a:t>
              </a:r>
              <a:endParaRPr lang="en-US" altLang="zh-CN" b="1" baseline="-25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46" name="Line 9"/>
          <p:cNvSpPr>
            <a:spLocks noChangeShapeType="1"/>
          </p:cNvSpPr>
          <p:nvPr/>
        </p:nvSpPr>
        <p:spPr bwMode="auto">
          <a:xfrm>
            <a:off x="8262936" y="4256087"/>
            <a:ext cx="13716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>
            <a:off x="9634536" y="3341687"/>
            <a:ext cx="0" cy="9144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 dirty="0"/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9634536" y="3341687"/>
            <a:ext cx="10668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9126176" y="3339848"/>
            <a:ext cx="508360" cy="1839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0" name="Rectangle 50"/>
          <p:cNvSpPr>
            <a:spLocks noChangeArrowheads="1"/>
          </p:cNvSpPr>
          <p:nvPr/>
        </p:nvSpPr>
        <p:spPr bwMode="auto">
          <a:xfrm>
            <a:off x="8482011" y="3065462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FF0066"/>
                </a:solidFill>
              </a:rPr>
              <a:t>U</a:t>
            </a:r>
            <a:r>
              <a:rPr lang="en-US" altLang="zh-CN" b="1" baseline="-25000" dirty="0">
                <a:solidFill>
                  <a:srgbClr val="FF0066"/>
                </a:solidFill>
              </a:rPr>
              <a:t>Z</a:t>
            </a:r>
            <a:endParaRPr lang="en-US" altLang="zh-CN" b="1" dirty="0">
              <a:solidFill>
                <a:srgbClr val="FF0066"/>
              </a:solidFill>
            </a:endParaRPr>
          </a:p>
        </p:txBody>
      </p:sp>
      <p:grpSp>
        <p:nvGrpSpPr>
          <p:cNvPr id="51" name="Group 51"/>
          <p:cNvGrpSpPr/>
          <p:nvPr/>
        </p:nvGrpSpPr>
        <p:grpSpPr bwMode="auto">
          <a:xfrm>
            <a:off x="9634536" y="3409950"/>
            <a:ext cx="981075" cy="457200"/>
            <a:chOff x="3888" y="1195"/>
            <a:chExt cx="618" cy="288"/>
          </a:xfrm>
        </p:grpSpPr>
        <p:sp>
          <p:nvSpPr>
            <p:cNvPr id="52" name="Rectangle 52"/>
            <p:cNvSpPr>
              <a:spLocks noChangeArrowheads="1"/>
            </p:cNvSpPr>
            <p:nvPr/>
          </p:nvSpPr>
          <p:spPr bwMode="auto">
            <a:xfrm>
              <a:off x="3888" y="1195"/>
              <a:ext cx="6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>
                  <a:solidFill>
                    <a:srgbClr val="0033CC"/>
                  </a:solidFill>
                </a:rPr>
                <a:t>U</a:t>
              </a:r>
              <a:r>
                <a:rPr lang="en-US" altLang="zh-CN" b="1" baseline="-25000" dirty="0">
                  <a:solidFill>
                    <a:srgbClr val="0033CC"/>
                  </a:solidFill>
                </a:rPr>
                <a:t>REF</a:t>
              </a:r>
              <a:endParaRPr lang="en-US" altLang="zh-CN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3888" y="1422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Rectangle 54"/>
          <p:cNvSpPr>
            <a:spLocks noChangeArrowheads="1"/>
          </p:cNvSpPr>
          <p:nvPr/>
        </p:nvSpPr>
        <p:spPr bwMode="auto">
          <a:xfrm>
            <a:off x="7577136" y="4332287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 err="1">
                <a:solidFill>
                  <a:srgbClr val="0033CC"/>
                </a:solidFill>
              </a:rPr>
              <a:t>u</a:t>
            </a:r>
            <a:r>
              <a:rPr lang="en-US" altLang="zh-CN" b="1" baseline="-25000" dirty="0" err="1">
                <a:solidFill>
                  <a:srgbClr val="0033CC"/>
                </a:solidFill>
              </a:rPr>
              <a:t>I</a:t>
            </a:r>
            <a:r>
              <a:rPr lang="en-US" altLang="zh-CN" b="1" dirty="0">
                <a:solidFill>
                  <a:srgbClr val="0033CC"/>
                </a:solidFill>
              </a:rPr>
              <a:t> </a:t>
            </a:r>
            <a:r>
              <a:rPr lang="en-US" altLang="zh-CN" b="1" i="1" dirty="0">
                <a:solidFill>
                  <a:srgbClr val="0033CC"/>
                </a:solidFill>
              </a:rPr>
              <a:t>&lt; U</a:t>
            </a:r>
            <a:r>
              <a:rPr lang="en-US" altLang="zh-CN" b="1" baseline="-25000" dirty="0">
                <a:solidFill>
                  <a:srgbClr val="0033CC"/>
                </a:solidFill>
              </a:rPr>
              <a:t>REF</a:t>
            </a:r>
            <a:endParaRPr lang="en-US" altLang="zh-CN" b="1" baseline="-25000" dirty="0">
              <a:solidFill>
                <a:srgbClr val="0033CC"/>
              </a:solidFill>
            </a:endParaRPr>
          </a:p>
        </p:txBody>
      </p:sp>
      <p:sp>
        <p:nvSpPr>
          <p:cNvPr id="55" name="Rectangle 55"/>
          <p:cNvSpPr>
            <a:spLocks noChangeArrowheads="1"/>
          </p:cNvSpPr>
          <p:nvPr/>
        </p:nvSpPr>
        <p:spPr bwMode="auto">
          <a:xfrm>
            <a:off x="8948736" y="421798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66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i="1" dirty="0">
                <a:solidFill>
                  <a:srgbClr val="FF0066"/>
                </a:solidFill>
              </a:rPr>
              <a:t>U</a:t>
            </a:r>
            <a:r>
              <a:rPr lang="en-US" altLang="zh-CN" b="1" baseline="-25000" dirty="0">
                <a:solidFill>
                  <a:srgbClr val="FF0066"/>
                </a:solidFill>
              </a:rPr>
              <a:t>Z</a:t>
            </a:r>
            <a:endParaRPr lang="en-US" altLang="zh-CN" b="1" dirty="0">
              <a:solidFill>
                <a:srgbClr val="FF0066"/>
              </a:solidFill>
            </a:endParaRPr>
          </a:p>
        </p:txBody>
      </p:sp>
      <p:sp>
        <p:nvSpPr>
          <p:cNvPr id="56" name="Rectangle 56"/>
          <p:cNvSpPr>
            <a:spLocks noChangeArrowheads="1"/>
          </p:cNvSpPr>
          <p:nvPr/>
        </p:nvSpPr>
        <p:spPr bwMode="auto">
          <a:xfrm>
            <a:off x="9431473" y="2774960"/>
            <a:ext cx="1508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 err="1">
                <a:solidFill>
                  <a:srgbClr val="0033CC"/>
                </a:solidFill>
              </a:rPr>
              <a:t>u</a:t>
            </a:r>
            <a:r>
              <a:rPr lang="en-US" altLang="zh-CN" b="1" baseline="-25000" dirty="0" err="1">
                <a:solidFill>
                  <a:srgbClr val="0033CC"/>
                </a:solidFill>
              </a:rPr>
              <a:t>I</a:t>
            </a:r>
            <a:r>
              <a:rPr lang="en-US" altLang="zh-CN" b="1" dirty="0">
                <a:solidFill>
                  <a:srgbClr val="0033CC"/>
                </a:solidFill>
              </a:rPr>
              <a:t> </a:t>
            </a:r>
            <a:r>
              <a:rPr lang="en-US" altLang="zh-CN" b="1" i="1" dirty="0">
                <a:solidFill>
                  <a:srgbClr val="0033CC"/>
                </a:solidFill>
              </a:rPr>
              <a:t>&gt; U</a:t>
            </a:r>
            <a:r>
              <a:rPr lang="en-US" altLang="zh-CN" b="1" baseline="-25000" dirty="0">
                <a:solidFill>
                  <a:srgbClr val="0033CC"/>
                </a:solidFill>
              </a:rPr>
              <a:t>REF</a:t>
            </a:r>
            <a:endParaRPr lang="en-US" altLang="zh-CN" b="1" dirty="0">
              <a:solidFill>
                <a:srgbClr val="0033CC"/>
              </a:solidFill>
            </a:endParaRPr>
          </a:p>
        </p:txBody>
      </p:sp>
      <p:sp>
        <p:nvSpPr>
          <p:cNvPr id="57" name="AutoShape 57"/>
          <p:cNvSpPr>
            <a:spLocks noChangeArrowheads="1"/>
          </p:cNvSpPr>
          <p:nvPr/>
        </p:nvSpPr>
        <p:spPr bwMode="auto">
          <a:xfrm>
            <a:off x="10545761" y="4217987"/>
            <a:ext cx="1447800" cy="838200"/>
          </a:xfrm>
          <a:prstGeom prst="wedgeRoundRectCallout">
            <a:avLst>
              <a:gd name="adj1" fmla="val -109977"/>
              <a:gd name="adj2" fmla="val -92236"/>
              <a:gd name="adj3" fmla="val 16667"/>
            </a:avLst>
          </a:prstGeom>
          <a:solidFill>
            <a:srgbClr val="FFFFCC"/>
          </a:solidFill>
          <a:ln w="28575">
            <a:solidFill>
              <a:srgbClr val="993300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zh-CN" altLang="en-US" sz="2600" b="1" dirty="0">
                <a:solidFill>
                  <a:srgbClr val="993300"/>
                </a:solidFill>
              </a:rPr>
              <a:t>门限</a:t>
            </a:r>
            <a:endParaRPr lang="zh-CN" altLang="en-US" sz="2600" b="1" dirty="0">
              <a:solidFill>
                <a:srgbClr val="993300"/>
              </a:solidFill>
            </a:endParaRPr>
          </a:p>
          <a:p>
            <a:pPr algn="ctr" eaLnBrk="1" hangingPunct="1">
              <a:lnSpc>
                <a:spcPct val="80000"/>
              </a:lnSpc>
            </a:pPr>
            <a:r>
              <a:rPr lang="zh-CN" altLang="en-US" sz="2600" b="1" dirty="0">
                <a:solidFill>
                  <a:srgbClr val="993300"/>
                </a:solidFill>
              </a:rPr>
              <a:t>电压 </a:t>
            </a:r>
            <a:r>
              <a:rPr lang="en-US" altLang="zh-CN" b="1" i="1" dirty="0">
                <a:solidFill>
                  <a:srgbClr val="993300"/>
                </a:solidFill>
              </a:rPr>
              <a:t>U</a:t>
            </a:r>
            <a:r>
              <a:rPr lang="en-US" altLang="zh-CN" b="1" baseline="-25000" dirty="0">
                <a:solidFill>
                  <a:srgbClr val="993300"/>
                </a:solidFill>
              </a:rPr>
              <a:t>T</a:t>
            </a:r>
            <a:endParaRPr lang="en-US" altLang="zh-CN" b="1" baseline="-25000" dirty="0">
              <a:solidFill>
                <a:srgbClr val="993300"/>
              </a:solidFill>
            </a:endParaRPr>
          </a:p>
        </p:txBody>
      </p:sp>
      <p:sp>
        <p:nvSpPr>
          <p:cNvPr id="58" name="Text Box 62"/>
          <p:cNvSpPr txBox="1">
            <a:spLocks noChangeArrowheads="1"/>
          </p:cNvSpPr>
          <p:nvPr/>
        </p:nvSpPr>
        <p:spPr bwMode="auto">
          <a:xfrm>
            <a:off x="1137969" y="4267031"/>
            <a:ext cx="350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66"/>
                </a:solidFill>
              </a:rPr>
              <a:t>门限电压   </a:t>
            </a:r>
            <a:r>
              <a:rPr lang="en-US" altLang="zh-CN" sz="2800" b="1" i="1">
                <a:solidFill>
                  <a:srgbClr val="FF0066"/>
                </a:solidFill>
              </a:rPr>
              <a:t>U</a:t>
            </a:r>
            <a:r>
              <a:rPr lang="en-US" altLang="zh-CN" sz="1800" b="1" i="1">
                <a:solidFill>
                  <a:srgbClr val="FF0066"/>
                </a:solidFill>
              </a:rPr>
              <a:t>T</a:t>
            </a:r>
            <a:r>
              <a:rPr lang="en-US" altLang="zh-CN" sz="2800" b="1">
                <a:solidFill>
                  <a:srgbClr val="FF0066"/>
                </a:solidFill>
              </a:rPr>
              <a:t> = </a:t>
            </a:r>
            <a:r>
              <a:rPr lang="en-US" altLang="zh-CN" sz="2800" b="1" i="1">
                <a:solidFill>
                  <a:srgbClr val="FF0066"/>
                </a:solidFill>
              </a:rPr>
              <a:t>U</a:t>
            </a:r>
            <a:r>
              <a:rPr lang="en-US" altLang="zh-CN" sz="2800" b="1" baseline="-25000">
                <a:solidFill>
                  <a:srgbClr val="FF0066"/>
                </a:solidFill>
              </a:rPr>
              <a:t>REF</a:t>
            </a:r>
            <a:endParaRPr lang="en-US" altLang="zh-CN" sz="2800" b="1" baseline="-25000">
              <a:solidFill>
                <a:srgbClr val="FF0066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37998" y="4890601"/>
            <a:ext cx="629602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dirty="0">
                <a:solidFill>
                  <a:schemeClr val="bg2">
                    <a:lumMod val="50000"/>
                  </a:schemeClr>
                </a:solidFill>
              </a:rPr>
              <a:t>Un&gt;Up  </a:t>
            </a:r>
            <a:r>
              <a:rPr lang="zh-CN" altLang="en-US" sz="4000" dirty="0">
                <a:solidFill>
                  <a:schemeClr val="bg2">
                    <a:lumMod val="50000"/>
                  </a:schemeClr>
                </a:solidFill>
              </a:rPr>
              <a:t>输出低电平（</a:t>
            </a:r>
            <a:r>
              <a:rPr lang="en-US" altLang="zh-CN" sz="4000" b="1" i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U</a:t>
            </a:r>
            <a:r>
              <a:rPr lang="en-US" altLang="zh-CN" sz="4000" b="1" baseline="-250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OL</a:t>
            </a:r>
            <a:r>
              <a:rPr lang="zh-CN" altLang="en-US" sz="4000" dirty="0">
                <a:solidFill>
                  <a:schemeClr val="bg2">
                    <a:lumMod val="50000"/>
                  </a:schemeClr>
                </a:solidFill>
              </a:rPr>
              <a:t>）</a:t>
            </a:r>
            <a:r>
              <a:rPr lang="en-US" altLang="zh-CN" sz="4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altLang="zh-CN" sz="40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r>
              <a:rPr lang="en-US" altLang="zh-CN" sz="4000" dirty="0">
                <a:solidFill>
                  <a:schemeClr val="bg2">
                    <a:lumMod val="50000"/>
                  </a:schemeClr>
                </a:solidFill>
              </a:rPr>
              <a:t>Up&gt;Un  </a:t>
            </a:r>
            <a:r>
              <a:rPr lang="zh-CN" altLang="en-US" sz="4000" dirty="0">
                <a:solidFill>
                  <a:schemeClr val="bg2">
                    <a:lumMod val="50000"/>
                  </a:schemeClr>
                </a:solidFill>
              </a:rPr>
              <a:t>输出高电平（</a:t>
            </a:r>
            <a:r>
              <a:rPr lang="en-US" altLang="zh-CN" sz="4000" b="1" i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U</a:t>
            </a:r>
            <a:r>
              <a:rPr lang="en-US" altLang="zh-CN" sz="4000" b="1" baseline="-250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OH</a:t>
            </a:r>
            <a:r>
              <a:rPr lang="zh-CN" altLang="en-US" sz="4000" dirty="0">
                <a:solidFill>
                  <a:schemeClr val="bg2">
                    <a:lumMod val="50000"/>
                  </a:schemeClr>
                </a:solidFill>
              </a:rPr>
              <a:t>）</a:t>
            </a:r>
            <a:endParaRPr lang="zh-CN" alt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图片 1" descr="a9d3fd1f4134970aa3563dba9fcad1c8a7865d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37795"/>
            <a:ext cx="5895975" cy="41808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202553" y="43128"/>
            <a:ext cx="6555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FF0000"/>
                </a:solidFill>
              </a:rPr>
              <a:t>电压比较器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pic>
        <p:nvPicPr>
          <p:cNvPr id="59" name="图片 58" descr="QQ图片20191007223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dvAuto="0" autoUpdateAnimBg="0" build="p"/>
      <p:bldP spid="54" grpId="0" autoUpdateAnimBg="0" build="p"/>
      <p:bldP spid="55" grpId="0" advAuto="0" autoUpdateAnimBg="0" build="p"/>
      <p:bldP spid="56" grpId="0" autoUpdateAnimBg="0" build="p"/>
      <p:bldP spid="5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553210"/>
            <a:ext cx="4679315" cy="29514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4985" y="413385"/>
            <a:ext cx="57277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>
                <a:solidFill>
                  <a:srgbClr val="C00000"/>
                </a:solidFill>
              </a:rPr>
              <a:t>上拉电阻</a:t>
            </a:r>
            <a:endParaRPr lang="zh-CN" altLang="en-US" sz="4400" b="1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37175" y="1150620"/>
            <a:ext cx="2832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5456555" y="1553210"/>
            <a:ext cx="62966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由于比较器通常都是由集电极开路进行输出的，比较器加上拉电阻是为了确保在输出高电平时能够提供足够的电压，并保证比较器正常工作。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z0802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49" r="50301" b="29951"/>
          <a:stretch>
            <a:fillRect/>
          </a:stretch>
        </p:blipFill>
        <p:spPr bwMode="auto">
          <a:xfrm>
            <a:off x="6708952" y="274561"/>
            <a:ext cx="4779237" cy="215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413164" y="87283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过零比较器</a:t>
            </a:r>
            <a:endParaRPr lang="zh-CN" altLang="en-US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Picture 4" descr="Dz0802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05" b="13274"/>
          <a:stretch>
            <a:fillRect/>
          </a:stretch>
        </p:blipFill>
        <p:spPr bwMode="auto">
          <a:xfrm>
            <a:off x="6708952" y="2533673"/>
            <a:ext cx="4164369" cy="3685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703811" y="2044651"/>
            <a:ext cx="6096000" cy="26752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（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1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）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T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＝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0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（即判断输入电压是否为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0V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）</a:t>
            </a:r>
            <a:endParaRPr lang="en-US" altLang="zh-CN" sz="2800" b="1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（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）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OH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＝＋ 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OM</a:t>
            </a:r>
            <a:r>
              <a:rPr lang="zh-CN" altLang="en-US" sz="2800" b="1" baseline="-25000" dirty="0">
                <a:solidFill>
                  <a:schemeClr val="bg2">
                    <a:lumMod val="50000"/>
                  </a:schemeClr>
                </a:solidFill>
              </a:rPr>
              <a:t>， 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OL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＝－ 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OM</a:t>
            </a:r>
            <a:endParaRPr lang="en-US" altLang="zh-CN" sz="2800" b="1" baseline="-25000" dirty="0"/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（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）</a:t>
            </a:r>
            <a:r>
              <a:rPr lang="en-US" altLang="zh-CN" sz="2800" b="1" i="1" dirty="0" err="1">
                <a:solidFill>
                  <a:srgbClr val="CC0066"/>
                </a:solidFill>
              </a:rPr>
              <a:t>u</a:t>
            </a:r>
            <a:r>
              <a:rPr lang="en-US" altLang="zh-CN" sz="2800" b="1" baseline="-25000" dirty="0" err="1">
                <a:solidFill>
                  <a:srgbClr val="CC0066"/>
                </a:solidFill>
              </a:rPr>
              <a:t>I</a:t>
            </a:r>
            <a:r>
              <a:rPr lang="en-US" altLang="zh-CN" sz="2800" b="1" baseline="-25000" dirty="0">
                <a:solidFill>
                  <a:srgbClr val="CC0066"/>
                </a:solidFill>
              </a:rPr>
              <a:t> </a:t>
            </a:r>
            <a:r>
              <a:rPr lang="en-US" altLang="zh-CN" sz="2800" b="1" dirty="0">
                <a:solidFill>
                  <a:srgbClr val="CC0066"/>
                </a:solidFill>
              </a:rPr>
              <a:t>&gt; 0</a:t>
            </a:r>
            <a:r>
              <a:rPr lang="en-US" altLang="zh-CN" sz="2800" b="1" dirty="0"/>
              <a:t> </a:t>
            </a:r>
            <a:r>
              <a:rPr lang="zh-CN" altLang="zh-CN" sz="2800" b="1" dirty="0">
                <a:solidFill>
                  <a:schemeClr val="bg2">
                    <a:lumMod val="50000"/>
                  </a:schemeClr>
                </a:solidFill>
              </a:rPr>
              <a:t>时 </a:t>
            </a:r>
            <a:r>
              <a:rPr lang="en-US" altLang="zh-CN" sz="2800" b="1" i="1" dirty="0" err="1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 err="1">
                <a:solidFill>
                  <a:schemeClr val="bg2">
                    <a:lumMod val="50000"/>
                  </a:schemeClr>
                </a:solidFill>
              </a:rPr>
              <a:t>O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＝－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OM</a:t>
            </a:r>
            <a:r>
              <a:rPr lang="en-US" altLang="zh-CN" sz="2800" b="1" dirty="0">
                <a:solidFill>
                  <a:schemeClr val="bg2">
                    <a:lumMod val="50000"/>
                  </a:schemeClr>
                </a:solidFill>
              </a:rPr>
              <a:t>;  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	   </a:t>
            </a:r>
            <a:r>
              <a:rPr lang="en-US" altLang="zh-CN" sz="2800" b="1" i="1" dirty="0" err="1">
                <a:solidFill>
                  <a:srgbClr val="CC0066"/>
                </a:solidFill>
              </a:rPr>
              <a:t>u</a:t>
            </a:r>
            <a:r>
              <a:rPr lang="en-US" altLang="zh-CN" sz="2800" b="1" baseline="-25000" dirty="0" err="1">
                <a:solidFill>
                  <a:srgbClr val="CC0066"/>
                </a:solidFill>
              </a:rPr>
              <a:t>I</a:t>
            </a:r>
            <a:r>
              <a:rPr lang="en-US" altLang="zh-CN" sz="2800" b="1" baseline="-25000" dirty="0">
                <a:solidFill>
                  <a:srgbClr val="CC0066"/>
                </a:solidFill>
              </a:rPr>
              <a:t> </a:t>
            </a:r>
            <a:r>
              <a:rPr lang="en-US" altLang="zh-CN" sz="2800" b="1" dirty="0">
                <a:solidFill>
                  <a:srgbClr val="CC0066"/>
                </a:solidFill>
              </a:rPr>
              <a:t>&lt; 0</a:t>
            </a:r>
            <a:r>
              <a:rPr lang="en-US" altLang="zh-CN" sz="2800" b="1" dirty="0"/>
              <a:t> </a:t>
            </a:r>
            <a:r>
              <a:rPr lang="zh-CN" altLang="zh-CN" sz="2800" b="1" dirty="0">
                <a:solidFill>
                  <a:schemeClr val="bg2">
                    <a:lumMod val="50000"/>
                  </a:schemeClr>
                </a:solidFill>
              </a:rPr>
              <a:t>时 </a:t>
            </a:r>
            <a:r>
              <a:rPr lang="en-US" altLang="zh-CN" sz="2800" b="1" i="1" dirty="0" err="1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 err="1">
                <a:solidFill>
                  <a:schemeClr val="bg2">
                    <a:lumMod val="50000"/>
                  </a:schemeClr>
                </a:solidFill>
              </a:rPr>
              <a:t>O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CN" altLang="en-US" sz="2800" b="1" dirty="0">
                <a:solidFill>
                  <a:schemeClr val="bg2">
                    <a:lumMod val="50000"/>
                  </a:schemeClr>
                </a:solidFill>
              </a:rPr>
              <a:t>＝＋ </a:t>
            </a:r>
            <a:r>
              <a:rPr lang="en-US" altLang="zh-CN" sz="2800" b="1" i="1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bg2">
                    <a:lumMod val="50000"/>
                  </a:schemeClr>
                </a:solidFill>
              </a:rPr>
              <a:t>OM </a:t>
            </a:r>
            <a:endParaRPr lang="zh-CN" altLang="en-US" sz="2800" b="1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0200" y="279400"/>
            <a:ext cx="27355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迟滞比较器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对象 337976"/>
          <p:cNvGraphicFramePr/>
          <p:nvPr/>
        </p:nvGraphicFramePr>
        <p:xfrm>
          <a:off x="433388" y="1296988"/>
          <a:ext cx="4216400" cy="257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3" imgW="1495425" imgH="990600" progId="Visio.Drawing.11">
                  <p:embed/>
                </p:oleObj>
              </mc:Choice>
              <mc:Fallback>
                <p:oleObj name="" r:id="rId3" imgW="1495425" imgH="990600" progId="Visio.Drawing.11">
                  <p:embed/>
                  <p:pic>
                    <p:nvPicPr>
                      <p:cNvPr id="0" name="对象 33797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1296988"/>
                        <a:ext cx="4216400" cy="257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5764213" y="2787650"/>
          <a:ext cx="23129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5" imgW="1002665" imgH="431800" progId="Equation.3">
                  <p:embed/>
                </p:oleObj>
              </mc:Choice>
              <mc:Fallback>
                <p:oleObj name="" r:id="rId5" imgW="1002665" imgH="431800" progId="Equation.3">
                  <p:embed/>
                  <p:pic>
                    <p:nvPicPr>
                      <p:cNvPr id="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2787650"/>
                        <a:ext cx="23129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5764213" y="3870325"/>
          <a:ext cx="2311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7" imgW="1002665" imgH="431800" progId="Equation.3">
                  <p:embed/>
                </p:oleObj>
              </mc:Choice>
              <mc:Fallback>
                <p:oleObj name="" r:id="rId7" imgW="1002665" imgH="431800" progId="Equation.3">
                  <p:embed/>
                  <p:pic>
                    <p:nvPicPr>
                      <p:cNvPr id="0" name="对象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3870325"/>
                        <a:ext cx="2311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左大括号 11"/>
          <p:cNvSpPr/>
          <p:nvPr/>
        </p:nvSpPr>
        <p:spPr bwMode="auto">
          <a:xfrm>
            <a:off x="5538788" y="3273425"/>
            <a:ext cx="114300" cy="1092200"/>
          </a:xfrm>
          <a:prstGeom prst="leftBrace">
            <a:avLst>
              <a:gd name="adj1" fmla="val 79585"/>
              <a:gd name="adj2" fmla="val 50000"/>
            </a:avLst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53320" y="2291636"/>
            <a:ext cx="26970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门限电压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57725" y="325120"/>
            <a:ext cx="71735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</a:rPr>
              <a:t>产生滞回特性的关键电阻 </a:t>
            </a:r>
            <a:r>
              <a:rPr lang="en-US" altLang="zh-CN" sz="2800" b="1">
                <a:solidFill>
                  <a:schemeClr val="bg1"/>
                </a:solidFill>
              </a:rPr>
              <a:t>R1,R2</a:t>
            </a:r>
            <a:r>
              <a:rPr lang="zh-CN" altLang="en-US" sz="2800" b="1">
                <a:solidFill>
                  <a:schemeClr val="bg1"/>
                </a:solidFill>
              </a:rPr>
              <a:t>：构成正反馈网络，这是迟滞比较器产生滞回特性的关键，通过正反馈将</a:t>
            </a:r>
            <a:r>
              <a:rPr lang="zh-CN" altLang="en-US" sz="2800" b="1">
                <a:solidFill>
                  <a:schemeClr val="bg1"/>
                </a:solidFill>
                <a:highlight>
                  <a:srgbClr val="FFFF00"/>
                </a:highlight>
              </a:rPr>
              <a:t>输出电压的一部分反馈到同相输入端，形成两个不同的门限电压。</a:t>
            </a:r>
            <a:endParaRPr lang="zh-CN" altLang="en-US" sz="2800" b="1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0200" y="279400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迟滞比较器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1854200" y="1600200"/>
            <a:ext cx="2620963" cy="2209800"/>
            <a:chOff x="3312" y="624"/>
            <a:chExt cx="1651" cy="1392"/>
          </a:xfrm>
        </p:grpSpPr>
        <p:sp>
          <p:nvSpPr>
            <p:cNvPr id="15" name="直接连接符 306222"/>
            <p:cNvSpPr>
              <a:spLocks noChangeShapeType="1"/>
            </p:cNvSpPr>
            <p:nvPr/>
          </p:nvSpPr>
          <p:spPr bwMode="auto">
            <a:xfrm rot="5400000" flipH="1">
              <a:off x="3096" y="1320"/>
              <a:ext cx="13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直接连接符 306223"/>
            <p:cNvSpPr>
              <a:spLocks noChangeShapeType="1"/>
            </p:cNvSpPr>
            <p:nvPr/>
          </p:nvSpPr>
          <p:spPr bwMode="auto">
            <a:xfrm>
              <a:off x="3312" y="1344"/>
              <a:ext cx="14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文本框 306224"/>
            <p:cNvSpPr txBox="1">
              <a:spLocks noChangeArrowheads="1"/>
            </p:cNvSpPr>
            <p:nvPr/>
          </p:nvSpPr>
          <p:spPr bwMode="auto">
            <a:xfrm>
              <a:off x="3600" y="1296"/>
              <a:ext cx="2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solidFill>
                    <a:schemeClr val="bg1"/>
                  </a:solidFill>
                </a:rPr>
                <a:t>O</a:t>
              </a:r>
              <a:endParaRPr lang="en-US" altLang="zh-CN" b="1" i="1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306225"/>
            <p:cNvSpPr>
              <a:spLocks noChangeArrowheads="1"/>
            </p:cNvSpPr>
            <p:nvPr/>
          </p:nvSpPr>
          <p:spPr bwMode="auto">
            <a:xfrm>
              <a:off x="4752" y="1184"/>
              <a:ext cx="21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 dirty="0" err="1">
                  <a:solidFill>
                    <a:schemeClr val="bg1"/>
                  </a:solidFill>
                </a:rPr>
                <a:t>u</a:t>
              </a:r>
              <a:r>
                <a:rPr lang="en-US" altLang="zh-CN" b="1" baseline="-25000" dirty="0" err="1">
                  <a:solidFill>
                    <a:schemeClr val="bg1"/>
                  </a:solidFill>
                </a:rPr>
                <a:t>I</a:t>
              </a:r>
              <a:endParaRPr lang="en-US" altLang="zh-CN" b="1" baseline="-25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410618" y="1230174"/>
            <a:ext cx="4090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 dirty="0" err="1">
                <a:solidFill>
                  <a:schemeClr val="bg1"/>
                </a:solidFill>
              </a:rPr>
              <a:t>u</a:t>
            </a:r>
            <a:r>
              <a:rPr lang="en-US" altLang="zh-CN" b="1" baseline="-25000" dirty="0" err="1">
                <a:solidFill>
                  <a:schemeClr val="bg1"/>
                </a:solidFill>
              </a:rPr>
              <a:t>O</a:t>
            </a:r>
            <a:endParaRPr lang="en-US" altLang="zh-CN" b="1" baseline="-25000" dirty="0">
              <a:solidFill>
                <a:schemeClr val="bg1"/>
              </a:solidFill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2874963" y="2681288"/>
            <a:ext cx="827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 dirty="0">
                <a:solidFill>
                  <a:schemeClr val="bg1"/>
                </a:solidFill>
              </a:rPr>
              <a:t>U</a:t>
            </a:r>
            <a:r>
              <a:rPr lang="en-US" altLang="zh-CN" b="1" baseline="-25000" dirty="0">
                <a:solidFill>
                  <a:schemeClr val="bg1"/>
                </a:solidFill>
              </a:rPr>
              <a:t>T+</a:t>
            </a:r>
            <a:endParaRPr lang="en-US" altLang="zh-CN" b="1" baseline="-25000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554163" y="2724150"/>
            <a:ext cx="4780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chemeClr val="bg1"/>
                </a:solidFill>
              </a:rPr>
              <a:t>U</a:t>
            </a:r>
            <a:r>
              <a:rPr lang="en-US" altLang="zh-CN" b="1" baseline="-25000" dirty="0">
                <a:solidFill>
                  <a:schemeClr val="bg1"/>
                </a:solidFill>
              </a:rPr>
              <a:t>T</a:t>
            </a:r>
            <a:r>
              <a:rPr lang="en-US" altLang="zh-CN" b="1" baseline="-25000" dirty="0">
                <a:latin typeface="Symbol" panose="05050102010706020507" pitchFamily="18" charset="2"/>
              </a:rPr>
              <a:t>-</a:t>
            </a:r>
            <a:endParaRPr lang="en-US" altLang="zh-CN" b="1" baseline="-25000" dirty="0">
              <a:latin typeface="Symbol" panose="05050102010706020507" pitchFamily="18" charset="2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6052" y="1617663"/>
            <a:ext cx="6921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 dirty="0">
                <a:solidFill>
                  <a:schemeClr val="bg1"/>
                </a:solidFill>
              </a:rPr>
              <a:t>U</a:t>
            </a:r>
            <a:r>
              <a:rPr lang="en-US" altLang="zh-CN" b="1" baseline="-25000" dirty="0">
                <a:solidFill>
                  <a:schemeClr val="bg1"/>
                </a:solidFill>
              </a:rPr>
              <a:t>Z</a:t>
            </a:r>
            <a:endParaRPr lang="en-US" altLang="zh-CN" b="1" baseline="-250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1350963" y="3640138"/>
            <a:ext cx="803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i="1" dirty="0">
                <a:solidFill>
                  <a:schemeClr val="bg1"/>
                </a:solidFill>
              </a:rPr>
              <a:t>U</a:t>
            </a:r>
            <a:r>
              <a:rPr lang="en-US" altLang="zh-CN" b="1" baseline="-25000" dirty="0">
                <a:solidFill>
                  <a:schemeClr val="bg1"/>
                </a:solidFill>
              </a:rPr>
              <a:t>Z</a:t>
            </a:r>
            <a:endParaRPr lang="en-US" altLang="zh-CN" b="1" baseline="-25000" dirty="0">
              <a:solidFill>
                <a:schemeClr val="bg1"/>
              </a:solidFill>
            </a:endParaRPr>
          </a:p>
        </p:txBody>
      </p:sp>
      <p:sp>
        <p:nvSpPr>
          <p:cNvPr id="24" name="直接连接符 23"/>
          <p:cNvSpPr>
            <a:spLocks noChangeShapeType="1"/>
          </p:cNvSpPr>
          <p:nvPr/>
        </p:nvSpPr>
        <p:spPr bwMode="auto">
          <a:xfrm>
            <a:off x="1503363" y="2071688"/>
            <a:ext cx="14478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直接连接符 24"/>
          <p:cNvSpPr>
            <a:spLocks noChangeShapeType="1"/>
          </p:cNvSpPr>
          <p:nvPr/>
        </p:nvSpPr>
        <p:spPr bwMode="auto">
          <a:xfrm>
            <a:off x="2951163" y="2071688"/>
            <a:ext cx="0" cy="205740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2951163" y="2071688"/>
            <a:ext cx="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直接连接符 26"/>
          <p:cNvSpPr>
            <a:spLocks noChangeShapeType="1"/>
          </p:cNvSpPr>
          <p:nvPr/>
        </p:nvSpPr>
        <p:spPr bwMode="auto">
          <a:xfrm>
            <a:off x="2951163" y="3519488"/>
            <a:ext cx="10668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直接连接符 27"/>
          <p:cNvSpPr>
            <a:spLocks noChangeShapeType="1"/>
          </p:cNvSpPr>
          <p:nvPr/>
        </p:nvSpPr>
        <p:spPr bwMode="auto">
          <a:xfrm>
            <a:off x="2341563" y="2043113"/>
            <a:ext cx="0" cy="198120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直接连接符 28"/>
          <p:cNvSpPr>
            <a:spLocks noChangeShapeType="1"/>
          </p:cNvSpPr>
          <p:nvPr/>
        </p:nvSpPr>
        <p:spPr bwMode="auto">
          <a:xfrm flipV="1">
            <a:off x="2341563" y="3519488"/>
            <a:ext cx="9906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直接连接符 29"/>
          <p:cNvSpPr>
            <a:spLocks noChangeShapeType="1"/>
          </p:cNvSpPr>
          <p:nvPr/>
        </p:nvSpPr>
        <p:spPr bwMode="auto">
          <a:xfrm>
            <a:off x="2341563" y="2071688"/>
            <a:ext cx="0" cy="14478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直接连接符 30"/>
          <p:cNvSpPr>
            <a:spLocks noChangeShapeType="1"/>
          </p:cNvSpPr>
          <p:nvPr/>
        </p:nvSpPr>
        <p:spPr bwMode="auto">
          <a:xfrm>
            <a:off x="1503363" y="2071688"/>
            <a:ext cx="8382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圆角矩形标注 306245"/>
          <p:cNvSpPr>
            <a:spLocks noChangeArrowheads="1"/>
          </p:cNvSpPr>
          <p:nvPr/>
        </p:nvSpPr>
        <p:spPr bwMode="auto">
          <a:xfrm>
            <a:off x="3103563" y="1919288"/>
            <a:ext cx="1219200" cy="533400"/>
          </a:xfrm>
          <a:prstGeom prst="wedgeRoundRectCallout">
            <a:avLst>
              <a:gd name="adj1" fmla="val -68750"/>
              <a:gd name="adj2" fmla="val 110120"/>
              <a:gd name="adj3" fmla="val 16667"/>
            </a:avLst>
          </a:prstGeom>
          <a:solidFill>
            <a:srgbClr val="FFFFCC"/>
          </a:solidFill>
          <a:ln w="19050">
            <a:solidFill>
              <a:srgbClr val="993300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dirty="0">
                <a:solidFill>
                  <a:srgbClr val="993300"/>
                </a:solidFill>
                <a:ea typeface="黑体" panose="02010609060101010101" pitchFamily="49" charset="-122"/>
              </a:rPr>
              <a:t>上门限</a:t>
            </a:r>
            <a:endParaRPr lang="zh-CN" altLang="en-US" dirty="0">
              <a:solidFill>
                <a:srgbClr val="993300"/>
              </a:solidFill>
              <a:ea typeface="黑体" panose="02010609060101010101" pitchFamily="49" charset="-122"/>
            </a:endParaRPr>
          </a:p>
        </p:txBody>
      </p:sp>
      <p:sp>
        <p:nvSpPr>
          <p:cNvPr id="33" name="圆角矩形标注 306246"/>
          <p:cNvSpPr>
            <a:spLocks noChangeArrowheads="1"/>
          </p:cNvSpPr>
          <p:nvPr/>
        </p:nvSpPr>
        <p:spPr bwMode="auto">
          <a:xfrm>
            <a:off x="893763" y="3062288"/>
            <a:ext cx="1219200" cy="533400"/>
          </a:xfrm>
          <a:prstGeom prst="wedgeRoundRectCallout">
            <a:avLst>
              <a:gd name="adj1" fmla="val 68750"/>
              <a:gd name="adj2" fmla="val -104167"/>
              <a:gd name="adj3" fmla="val 16667"/>
            </a:avLst>
          </a:prstGeom>
          <a:solidFill>
            <a:srgbClr val="FFFFCC"/>
          </a:solidFill>
          <a:ln w="19050">
            <a:solidFill>
              <a:srgbClr val="993300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>
                <a:solidFill>
                  <a:srgbClr val="993300"/>
                </a:solidFill>
                <a:ea typeface="黑体" panose="02010609060101010101" pitchFamily="49" charset="-122"/>
              </a:rPr>
              <a:t>下门限</a:t>
            </a:r>
            <a:endParaRPr lang="zh-CN" altLang="en-US">
              <a:solidFill>
                <a:srgbClr val="993300"/>
              </a:solidFill>
              <a:ea typeface="黑体" panose="02010609060101010101" pitchFamily="49" charset="-122"/>
            </a:endParaRPr>
          </a:p>
        </p:txBody>
      </p:sp>
      <p:grpSp>
        <p:nvGrpSpPr>
          <p:cNvPr id="34" name="组合 33"/>
          <p:cNvGrpSpPr/>
          <p:nvPr/>
        </p:nvGrpSpPr>
        <p:grpSpPr bwMode="auto">
          <a:xfrm>
            <a:off x="2282825" y="3595688"/>
            <a:ext cx="668338" cy="457200"/>
            <a:chOff x="3947" y="1872"/>
            <a:chExt cx="421" cy="288"/>
          </a:xfrm>
        </p:grpSpPr>
        <p:sp>
          <p:nvSpPr>
            <p:cNvPr id="35" name="直接连接符 306249"/>
            <p:cNvSpPr>
              <a:spLocks noChangeShapeType="1"/>
            </p:cNvSpPr>
            <p:nvPr/>
          </p:nvSpPr>
          <p:spPr bwMode="auto">
            <a:xfrm>
              <a:off x="3947" y="2160"/>
              <a:ext cx="421" cy="0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矩形 306250"/>
            <p:cNvSpPr>
              <a:spLocks noChangeArrowheads="1"/>
            </p:cNvSpPr>
            <p:nvPr/>
          </p:nvSpPr>
          <p:spPr bwMode="auto">
            <a:xfrm>
              <a:off x="3947" y="1872"/>
              <a:ext cx="2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ea typeface="楷体_GB2312" panose="02010609030101010101" pitchFamily="49" charset="-122"/>
                  <a:sym typeface="Symbol" panose="05050102010706020507" pitchFamily="18" charset="2"/>
                </a:rPr>
                <a:t></a:t>
              </a:r>
              <a:r>
                <a:rPr lang="en-US" altLang="zh-CN" b="1" i="1" dirty="0">
                  <a:solidFill>
                    <a:schemeClr val="bg1"/>
                  </a:solidFill>
                  <a:ea typeface="楷体_GB2312" panose="02010609030101010101" pitchFamily="49" charset="-122"/>
                </a:rPr>
                <a:t>U</a:t>
              </a:r>
              <a:endParaRPr lang="en-US" altLang="zh-CN" b="1" i="1" dirty="0">
                <a:solidFill>
                  <a:schemeClr val="bg1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37" name="圆角矩形标注 306251"/>
          <p:cNvSpPr>
            <a:spLocks noChangeArrowheads="1"/>
          </p:cNvSpPr>
          <p:nvPr/>
        </p:nvSpPr>
        <p:spPr bwMode="auto">
          <a:xfrm>
            <a:off x="4140200" y="3581400"/>
            <a:ext cx="914400" cy="838200"/>
          </a:xfrm>
          <a:prstGeom prst="wedgeRoundRectCallout">
            <a:avLst>
              <a:gd name="adj1" fmla="val -137500"/>
              <a:gd name="adj2" fmla="val -14014"/>
              <a:gd name="adj3" fmla="val 16667"/>
            </a:avLst>
          </a:prstGeom>
          <a:solidFill>
            <a:srgbClr val="FFFFCC"/>
          </a:solidFill>
          <a:ln w="19050">
            <a:solidFill>
              <a:srgbClr val="993300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>
                <a:solidFill>
                  <a:srgbClr val="993300"/>
                </a:solidFill>
                <a:ea typeface="黑体" panose="02010609060101010101" pitchFamily="49" charset="-122"/>
              </a:rPr>
              <a:t>回差</a:t>
            </a:r>
            <a:endParaRPr lang="zh-CN" altLang="en-US">
              <a:solidFill>
                <a:srgbClr val="993300"/>
              </a:solidFill>
              <a:ea typeface="黑体" panose="02010609060101010101" pitchFamily="49" charset="-122"/>
            </a:endParaRPr>
          </a:p>
          <a:p>
            <a:pPr algn="ctr"/>
            <a:r>
              <a:rPr lang="zh-CN" altLang="en-US">
                <a:solidFill>
                  <a:srgbClr val="993300"/>
                </a:solidFill>
                <a:ea typeface="黑体" panose="02010609060101010101" pitchFamily="49" charset="-122"/>
              </a:rPr>
              <a:t>电压</a:t>
            </a:r>
            <a:endParaRPr lang="zh-CN" altLang="en-US">
              <a:solidFill>
                <a:srgbClr val="993300"/>
              </a:solidFill>
              <a:ea typeface="黑体" panose="02010609060101010101" pitchFamily="49" charset="-122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1224756" y="4934090"/>
            <a:ext cx="3452813" cy="1698625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66"/>
            </a:solidFill>
            <a:miter lim="800000"/>
          </a:ln>
        </p:spPr>
        <p:txBody>
          <a:bodyPr>
            <a:spAutoFit/>
          </a:bodyPr>
          <a:lstStyle/>
          <a:p>
            <a:r>
              <a:rPr lang="zh-CN" altLang="en-US" sz="2600" b="1" dirty="0">
                <a:solidFill>
                  <a:schemeClr val="bg1"/>
                </a:solidFill>
              </a:rPr>
              <a:t>特点：</a:t>
            </a:r>
            <a:endParaRPr lang="zh-CN" altLang="en-US" sz="2600" b="1" dirty="0">
              <a:solidFill>
                <a:schemeClr val="bg1"/>
              </a:solidFill>
            </a:endParaRPr>
          </a:p>
          <a:p>
            <a:endParaRPr lang="zh-CN" altLang="en-US" sz="2600" b="1" dirty="0">
              <a:solidFill>
                <a:srgbClr val="0033CC"/>
              </a:solidFill>
            </a:endParaRPr>
          </a:p>
          <a:p>
            <a:endParaRPr lang="zh-CN" altLang="en-US" sz="2600" b="1" dirty="0">
              <a:solidFill>
                <a:srgbClr val="0033CC"/>
              </a:solidFill>
            </a:endParaRPr>
          </a:p>
          <a:p>
            <a:endParaRPr lang="zh-CN" altLang="en-US" sz="2600" b="1" dirty="0">
              <a:solidFill>
                <a:srgbClr val="0033CC"/>
              </a:solidFill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1300956" y="5448440"/>
            <a:ext cx="3429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600" b="1" i="1" dirty="0" err="1">
                <a:solidFill>
                  <a:srgbClr val="FF0066"/>
                </a:solidFill>
              </a:rPr>
              <a:t>u</a:t>
            </a:r>
            <a:r>
              <a:rPr lang="en-US" altLang="zh-CN" sz="2600" b="1" baseline="-25000" dirty="0" err="1">
                <a:solidFill>
                  <a:srgbClr val="FF0066"/>
                </a:solidFill>
              </a:rPr>
              <a:t>I</a:t>
            </a:r>
            <a:r>
              <a:rPr lang="en-US" altLang="zh-CN" sz="2600" b="1" dirty="0">
                <a:solidFill>
                  <a:srgbClr val="FF0066"/>
                </a:solidFill>
              </a:rPr>
              <a:t> </a:t>
            </a:r>
            <a:r>
              <a:rPr lang="zh-CN" altLang="en-US" sz="2600" b="1" dirty="0">
                <a:solidFill>
                  <a:srgbClr val="FF0066"/>
                </a:solidFill>
              </a:rPr>
              <a:t>上升时与上门限比</a:t>
            </a:r>
            <a:r>
              <a:rPr lang="en-US" altLang="zh-CN" sz="2600" b="1" dirty="0">
                <a:solidFill>
                  <a:srgbClr val="FF0066"/>
                </a:solidFill>
              </a:rPr>
              <a:t>,</a:t>
            </a:r>
            <a:endParaRPr lang="en-US" altLang="zh-CN" sz="2600" b="1" dirty="0">
              <a:solidFill>
                <a:srgbClr val="FF0066"/>
              </a:solidFill>
            </a:endParaRP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300956" y="5905640"/>
            <a:ext cx="35210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 b="1" i="1" dirty="0" err="1">
                <a:solidFill>
                  <a:srgbClr val="FF0066"/>
                </a:solidFill>
              </a:rPr>
              <a:t>u</a:t>
            </a:r>
            <a:r>
              <a:rPr lang="en-US" altLang="zh-CN" sz="2600" b="1" baseline="-25000" dirty="0" err="1">
                <a:solidFill>
                  <a:srgbClr val="FF0066"/>
                </a:solidFill>
              </a:rPr>
              <a:t>I</a:t>
            </a:r>
            <a:r>
              <a:rPr lang="en-US" altLang="zh-CN" sz="2600" b="1" dirty="0">
                <a:solidFill>
                  <a:srgbClr val="FF0066"/>
                </a:solidFill>
              </a:rPr>
              <a:t> </a:t>
            </a:r>
            <a:r>
              <a:rPr lang="zh-CN" altLang="en-US" sz="2600" b="1" dirty="0">
                <a:solidFill>
                  <a:srgbClr val="FF0066"/>
                </a:solidFill>
              </a:rPr>
              <a:t>下降时与下门限比。</a:t>
            </a:r>
            <a:endParaRPr lang="zh-CN" altLang="en-US" sz="2600" b="1" dirty="0">
              <a:solidFill>
                <a:srgbClr val="FF0066"/>
              </a:solidFill>
            </a:endParaRPr>
          </a:p>
        </p:txBody>
      </p:sp>
      <p:graphicFrame>
        <p:nvGraphicFramePr>
          <p:cNvPr id="41" name="对象 306254"/>
          <p:cNvGraphicFramePr/>
          <p:nvPr/>
        </p:nvGraphicFramePr>
        <p:xfrm>
          <a:off x="5774531" y="292099"/>
          <a:ext cx="3730625" cy="199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3" imgW="1495425" imgH="990600" progId="Visio.Drawing.11">
                  <p:embed/>
                </p:oleObj>
              </mc:Choice>
              <mc:Fallback>
                <p:oleObj name="" r:id="rId3" imgW="1495425" imgH="990600" progId="Visio.Drawing.11">
                  <p:embed/>
                  <p:pic>
                    <p:nvPicPr>
                      <p:cNvPr id="0" name="对象 30625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531" y="292099"/>
                        <a:ext cx="3730625" cy="199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303213" y="1028700"/>
            <a:ext cx="250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传输特性</a:t>
            </a:r>
            <a:r>
              <a:rPr lang="en-US" altLang="zh-CN" sz="2800" b="1" dirty="0">
                <a:solidFill>
                  <a:srgbClr val="0000FF"/>
                </a:solidFill>
              </a:rPr>
              <a:t>: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5774531" y="2724150"/>
            <a:ext cx="3087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600" b="1" dirty="0">
                <a:solidFill>
                  <a:srgbClr val="FF0066"/>
                </a:solidFill>
              </a:rPr>
              <a:t>当 </a:t>
            </a:r>
            <a:r>
              <a:rPr lang="en-US" altLang="zh-CN" sz="2600" b="1" i="1" dirty="0" err="1">
                <a:solidFill>
                  <a:srgbClr val="FF0066"/>
                </a:solidFill>
              </a:rPr>
              <a:t>u</a:t>
            </a:r>
            <a:r>
              <a:rPr lang="en-US" altLang="zh-CN" sz="2600" b="1" baseline="-25000" dirty="0" err="1">
                <a:solidFill>
                  <a:srgbClr val="FF0066"/>
                </a:solidFill>
              </a:rPr>
              <a:t>I</a:t>
            </a:r>
            <a:r>
              <a:rPr lang="en-US" altLang="zh-CN" sz="2600" b="1" dirty="0">
                <a:solidFill>
                  <a:srgbClr val="FF0066"/>
                </a:solidFill>
              </a:rPr>
              <a:t> </a:t>
            </a:r>
            <a:r>
              <a:rPr lang="zh-CN" altLang="en-US" sz="2600" b="1" dirty="0">
                <a:solidFill>
                  <a:srgbClr val="FF0066"/>
                </a:solidFill>
              </a:rPr>
              <a:t>逐渐增大时</a:t>
            </a:r>
            <a:r>
              <a:rPr lang="zh-CN" altLang="en-US" sz="2800" b="1" dirty="0">
                <a:solidFill>
                  <a:srgbClr val="FF0066"/>
                </a:solidFill>
              </a:rPr>
              <a:t> </a:t>
            </a:r>
            <a:endParaRPr lang="zh-CN" altLang="en-US" sz="2800" b="1" dirty="0">
              <a:solidFill>
                <a:srgbClr val="FF0066"/>
              </a:solidFill>
            </a:endParaRPr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5811520" y="3289300"/>
            <a:ext cx="470535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chemeClr val="bg1"/>
                </a:solidFill>
              </a:rPr>
              <a:t>只要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I</a:t>
            </a:r>
            <a:r>
              <a:rPr lang="en-US" altLang="zh-CN" sz="2600" b="1" dirty="0">
                <a:solidFill>
                  <a:schemeClr val="bg1"/>
                </a:solidFill>
              </a:rPr>
              <a:t> &lt; 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T+ </a:t>
            </a:r>
            <a:r>
              <a:rPr lang="zh-CN" altLang="en-US" sz="2600" b="1" dirty="0">
                <a:solidFill>
                  <a:schemeClr val="bg1"/>
                </a:solidFill>
              </a:rPr>
              <a:t>，则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O</a:t>
            </a:r>
            <a:r>
              <a:rPr lang="en-US" altLang="zh-CN" sz="2600" b="1" dirty="0">
                <a:solidFill>
                  <a:schemeClr val="bg1"/>
                </a:solidFill>
              </a:rPr>
              <a:t> = 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Z</a:t>
            </a:r>
            <a:endParaRPr lang="en-US" altLang="zh-CN" sz="2600" b="1" baseline="-25000" dirty="0">
              <a:solidFill>
                <a:schemeClr val="bg1"/>
              </a:solidFill>
            </a:endParaRPr>
          </a:p>
        </p:txBody>
      </p:sp>
      <p:sp>
        <p:nvSpPr>
          <p:cNvPr id="47" name="文本框 46"/>
          <p:cNvSpPr txBox="1">
            <a:spLocks noChangeArrowheads="1"/>
          </p:cNvSpPr>
          <p:nvPr/>
        </p:nvSpPr>
        <p:spPr bwMode="auto">
          <a:xfrm>
            <a:off x="5811520" y="3824605"/>
            <a:ext cx="521271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chemeClr val="bg1"/>
                </a:solidFill>
              </a:rPr>
              <a:t>一旦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I</a:t>
            </a:r>
            <a:r>
              <a:rPr lang="en-US" altLang="zh-CN" sz="2600" b="1" dirty="0">
                <a:solidFill>
                  <a:schemeClr val="bg1"/>
                </a:solidFill>
              </a:rPr>
              <a:t> &gt; 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T+ </a:t>
            </a:r>
            <a:r>
              <a:rPr lang="zh-CN" altLang="en-US" sz="2600" b="1" dirty="0">
                <a:solidFill>
                  <a:schemeClr val="bg1"/>
                </a:solidFill>
              </a:rPr>
              <a:t>，则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O</a:t>
            </a:r>
            <a:r>
              <a:rPr lang="en-US" altLang="zh-CN" sz="2600" b="1" dirty="0">
                <a:solidFill>
                  <a:schemeClr val="bg1"/>
                </a:solidFill>
              </a:rPr>
              <a:t> = </a:t>
            </a:r>
            <a:r>
              <a: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Z</a:t>
            </a:r>
            <a:endParaRPr lang="en-US" altLang="zh-CN" sz="2600" b="1" dirty="0">
              <a:solidFill>
                <a:schemeClr val="bg1"/>
              </a:solidFill>
            </a:endParaRPr>
          </a:p>
        </p:txBody>
      </p:sp>
      <p:sp>
        <p:nvSpPr>
          <p:cNvPr id="48" name="文本框 47"/>
          <p:cNvSpPr txBox="1">
            <a:spLocks noChangeArrowheads="1"/>
          </p:cNvSpPr>
          <p:nvPr/>
        </p:nvSpPr>
        <p:spPr bwMode="auto">
          <a:xfrm>
            <a:off x="5811837" y="4538839"/>
            <a:ext cx="28940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600" b="1" dirty="0">
                <a:solidFill>
                  <a:srgbClr val="FF0066"/>
                </a:solidFill>
              </a:rPr>
              <a:t>当 </a:t>
            </a:r>
            <a:r>
              <a:rPr lang="en-US" altLang="zh-CN" sz="2600" b="1" i="1" dirty="0" err="1">
                <a:solidFill>
                  <a:srgbClr val="FF0066"/>
                </a:solidFill>
              </a:rPr>
              <a:t>u</a:t>
            </a:r>
            <a:r>
              <a:rPr lang="en-US" altLang="zh-CN" sz="2600" b="1" baseline="-25000" dirty="0" err="1">
                <a:solidFill>
                  <a:srgbClr val="FF0066"/>
                </a:solidFill>
              </a:rPr>
              <a:t>I</a:t>
            </a:r>
            <a:r>
              <a:rPr lang="en-US" altLang="zh-CN" sz="2600" b="1" baseline="-25000" dirty="0">
                <a:solidFill>
                  <a:srgbClr val="FF0066"/>
                </a:solidFill>
              </a:rPr>
              <a:t> </a:t>
            </a:r>
            <a:r>
              <a:rPr lang="zh-CN" altLang="en-US" sz="2600" b="1" dirty="0">
                <a:solidFill>
                  <a:srgbClr val="FF0066"/>
                </a:solidFill>
              </a:rPr>
              <a:t>逐渐减小时</a:t>
            </a:r>
            <a:endParaRPr lang="zh-CN" altLang="en-US" sz="2600" b="1" dirty="0">
              <a:solidFill>
                <a:srgbClr val="FF0066"/>
              </a:solidFill>
            </a:endParaRPr>
          </a:p>
        </p:txBody>
      </p:sp>
      <p:sp>
        <p:nvSpPr>
          <p:cNvPr id="49" name="文本框 48"/>
          <p:cNvSpPr txBox="1">
            <a:spLocks noChangeArrowheads="1"/>
          </p:cNvSpPr>
          <p:nvPr/>
        </p:nvSpPr>
        <p:spPr bwMode="auto">
          <a:xfrm>
            <a:off x="5811520" y="5294630"/>
            <a:ext cx="49809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chemeClr val="bg1"/>
                </a:solidFill>
              </a:rPr>
              <a:t>只要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I</a:t>
            </a:r>
            <a:r>
              <a:rPr lang="en-US" altLang="zh-CN" sz="2600" b="1" dirty="0">
                <a:solidFill>
                  <a:schemeClr val="bg1"/>
                </a:solidFill>
              </a:rPr>
              <a:t> &gt; </a:t>
            </a:r>
            <a:r>
              <a:rPr lang="en-US" altLang="zh-CN" sz="2600" b="1" i="1" dirty="0">
                <a:solidFill>
                  <a:schemeClr val="bg1"/>
                </a:solidFill>
              </a:rPr>
              <a:t>U 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T</a:t>
            </a:r>
            <a:r>
              <a:rPr lang="en-US" altLang="zh-CN" sz="2600" b="1" baseline="-25000" dirty="0">
                <a:solidFill>
                  <a:schemeClr val="bg1"/>
                </a:solidFill>
                <a:latin typeface="Symbol" panose="05050102010706020507" pitchFamily="18" charset="2"/>
              </a:rPr>
              <a:t>- </a:t>
            </a:r>
            <a:r>
              <a:rPr lang="zh-CN" altLang="en-US" sz="2600" b="1" dirty="0">
                <a:solidFill>
                  <a:schemeClr val="bg1"/>
                </a:solidFill>
              </a:rPr>
              <a:t>，则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O</a:t>
            </a:r>
            <a:r>
              <a:rPr lang="en-US" altLang="zh-CN" sz="2600" b="1" dirty="0">
                <a:solidFill>
                  <a:schemeClr val="bg1"/>
                </a:solidFill>
              </a:rPr>
              <a:t> = </a:t>
            </a:r>
            <a:r>
              <a: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Z</a:t>
            </a:r>
            <a:endParaRPr lang="en-US" altLang="zh-CN" sz="2600" b="1" dirty="0">
              <a:solidFill>
                <a:schemeClr val="bg1"/>
              </a:solidFill>
            </a:endParaRP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5861050" y="5751195"/>
            <a:ext cx="493141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chemeClr val="bg1"/>
                </a:solidFill>
              </a:rPr>
              <a:t>一旦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I</a:t>
            </a:r>
            <a:r>
              <a:rPr lang="en-US" altLang="zh-CN" sz="2600" b="1" dirty="0">
                <a:solidFill>
                  <a:schemeClr val="bg1"/>
                </a:solidFill>
              </a:rPr>
              <a:t> &lt; 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T</a:t>
            </a:r>
            <a:r>
              <a:rPr lang="en-US" altLang="zh-CN" sz="2600" b="1" baseline="-25000" dirty="0">
                <a:solidFill>
                  <a:schemeClr val="bg1"/>
                </a:solidFill>
                <a:latin typeface="Symbol" panose="05050102010706020507" pitchFamily="18" charset="2"/>
              </a:rPr>
              <a:t>- </a:t>
            </a:r>
            <a:r>
              <a:rPr lang="zh-CN" altLang="en-US" sz="2600" b="1" dirty="0">
                <a:solidFill>
                  <a:schemeClr val="bg1"/>
                </a:solidFill>
                <a:latin typeface="Symbol" panose="05050102010706020507" pitchFamily="18" charset="2"/>
              </a:rPr>
              <a:t>，</a:t>
            </a:r>
            <a:r>
              <a:rPr lang="zh-CN" altLang="en-US" sz="2600" b="1" dirty="0">
                <a:solidFill>
                  <a:schemeClr val="bg1"/>
                </a:solidFill>
              </a:rPr>
              <a:t>则 </a:t>
            </a:r>
            <a:r>
              <a:rPr lang="en-US" altLang="zh-CN" sz="2600" b="1" i="1" dirty="0" err="1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 err="1">
                <a:solidFill>
                  <a:schemeClr val="bg1"/>
                </a:solidFill>
              </a:rPr>
              <a:t>O</a:t>
            </a:r>
            <a:r>
              <a:rPr lang="en-US" altLang="zh-CN" sz="2600" b="1" dirty="0">
                <a:solidFill>
                  <a:schemeClr val="bg1"/>
                </a:solidFill>
              </a:rPr>
              <a:t> = </a:t>
            </a:r>
            <a:r>
              <a:rPr lang="en-US" altLang="zh-CN" sz="2600" b="1" i="1" dirty="0">
                <a:solidFill>
                  <a:schemeClr val="bg1"/>
                </a:solidFill>
              </a:rPr>
              <a:t>U</a:t>
            </a:r>
            <a:r>
              <a:rPr lang="en-US" altLang="zh-CN" sz="2600" b="1" baseline="-25000" dirty="0">
                <a:solidFill>
                  <a:schemeClr val="bg1"/>
                </a:solidFill>
              </a:rPr>
              <a:t>Z</a:t>
            </a:r>
            <a:endParaRPr lang="en-US" altLang="zh-CN" sz="2600" b="1" baseline="-25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dvAuto="0" build="p"/>
      <p:bldP spid="20" grpId="0"/>
      <p:bldP spid="21" grpId="0"/>
      <p:bldP spid="22" grpId="0"/>
      <p:bldP spid="23" grpId="0"/>
      <p:bldP spid="32" grpId="0" animBg="1"/>
      <p:bldP spid="33" grpId="0" animBg="1"/>
      <p:bldP spid="37" grpId="0" animBg="1"/>
      <p:bldP spid="38" grpId="0" animBg="1"/>
      <p:bldP spid="39" grpId="0" build="p"/>
      <p:bldP spid="40" grpId="0" build="p"/>
      <p:bldP spid="42" grpId="0" advAuto="0" build="p"/>
      <p:bldP spid="44" grpId="0" build="p"/>
      <p:bldP spid="46" grpId="0" build="p"/>
      <p:bldP spid="47" grpId="0" build="p"/>
      <p:bldP spid="48" grpId="0" build="p"/>
      <p:bldP spid="49" grpId="0" build="p"/>
      <p:bldP spid="5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19" y="540277"/>
            <a:ext cx="10519506" cy="56839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64535" y="0"/>
            <a:ext cx="5342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FF0000"/>
                </a:solidFill>
              </a:rPr>
              <a:t>积分运算电路</a:t>
            </a:r>
            <a:endParaRPr lang="zh-CN" altLang="en-US" sz="4000">
              <a:solidFill>
                <a:srgbClr val="FF0000"/>
              </a:solidFill>
            </a:endParaRPr>
          </a:p>
        </p:txBody>
      </p:sp>
      <p:pic>
        <p:nvPicPr>
          <p:cNvPr id="5" name="图片 4" descr="timg (1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81" y="551543"/>
            <a:ext cx="4361044" cy="3504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8550" y="4823460"/>
            <a:ext cx="3709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13" name="图片 12" descr="QQ图片20191007223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448" y="3436324"/>
            <a:ext cx="2438400" cy="590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79" y="4073691"/>
            <a:ext cx="3709669" cy="278430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1448" y="4561522"/>
            <a:ext cx="1715135" cy="523875"/>
          </a:xfrm>
          <a:prstGeom prst="rect">
            <a:avLst/>
          </a:prstGeom>
        </p:spPr>
      </p:pic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7" imgW="914400" imgH="215900" progId="Equation.KSEE3">
                  <p:embed/>
                </p:oleObj>
              </mc:Choice>
              <mc:Fallback>
                <p:oleObj name="" r:id="rId7" imgW="914400" imgH="215900" progId="Equation.KSEE3">
                  <p:embed/>
                  <p:pic>
                    <p:nvPicPr>
                      <p:cNvPr id="0" name="对象 1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7143750" y="5069763"/>
          <a:ext cx="3124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9" imgW="1548765" imgH="393700" progId="Equation.3">
                  <p:embed/>
                </p:oleObj>
              </mc:Choice>
              <mc:Fallback>
                <p:oleObj name="" r:id="rId9" imgW="1548765" imgH="393700" progId="Equation.3">
                  <p:embed/>
                  <p:pic>
                    <p:nvPicPr>
                      <p:cNvPr id="0" name="对象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5069763"/>
                        <a:ext cx="3124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/>
          <p:nvPr/>
        </p:nvGraphicFramePr>
        <p:xfrm>
          <a:off x="7147809" y="750211"/>
          <a:ext cx="13827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1" imgW="723900" imgH="393700" progId="Equation.3">
                  <p:embed/>
                </p:oleObj>
              </mc:Choice>
              <mc:Fallback>
                <p:oleObj name="" r:id="rId11" imgW="723900" imgH="393700" progId="Equation.3">
                  <p:embed/>
                  <p:pic>
                    <p:nvPicPr>
                      <p:cNvPr id="0" name="对象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7809" y="750211"/>
                        <a:ext cx="1382712" cy="749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/>
          <p:nvPr/>
        </p:nvGraphicFramePr>
        <p:xfrm>
          <a:off x="7143750" y="1827213"/>
          <a:ext cx="259397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3" imgW="1358265" imgH="393700" progId="Equation.3">
                  <p:embed/>
                </p:oleObj>
              </mc:Choice>
              <mc:Fallback>
                <p:oleObj name="" r:id="rId13" imgW="1358265" imgH="393700" progId="Equation.3">
                  <p:embed/>
                  <p:pic>
                    <p:nvPicPr>
                      <p:cNvPr id="0" name="对象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1827213"/>
                        <a:ext cx="2593975" cy="7508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/>
          <p:nvPr/>
        </p:nvGraphicFramePr>
        <p:xfrm>
          <a:off x="7144203" y="4013993"/>
          <a:ext cx="19875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5" imgW="1040765" imgH="393700" progId="Equation.3">
                  <p:embed/>
                </p:oleObj>
              </mc:Choice>
              <mc:Fallback>
                <p:oleObj name="" r:id="rId15" imgW="1040765" imgH="393700" progId="Equation.3">
                  <p:embed/>
                  <p:pic>
                    <p:nvPicPr>
                      <p:cNvPr id="0" name="对象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203" y="4013993"/>
                        <a:ext cx="19875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890452" y="2638506"/>
            <a:ext cx="345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Uc</a:t>
            </a:r>
            <a:r>
              <a:rPr lang="zh-CN" altLang="en-US" dirty="0">
                <a:solidFill>
                  <a:srgbClr val="FF0000"/>
                </a:solidFill>
              </a:rPr>
              <a:t>为电容两端电压，左正右负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103382" y="3135777"/>
                <a:ext cx="4361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600" dirty="0">
                    <a:solidFill>
                      <a:schemeClr val="bg1"/>
                    </a:solidFill>
                  </a:rPr>
                  <a:t>RC  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（时间常数）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382" y="3135777"/>
                <a:ext cx="4361043" cy="646331"/>
              </a:xfrm>
              <a:prstGeom prst="rect">
                <a:avLst/>
              </a:prstGeom>
              <a:blipFill rotWithShape="1">
                <a:blip r:embed="rId17"/>
                <a:stretch>
                  <a:fillRect l="-6" t="-23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图片201910171244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030" y="1330325"/>
            <a:ext cx="3786505" cy="28168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27910" y="417830"/>
            <a:ext cx="67925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</a:rPr>
              <a:t>运放的应用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24190" y="4932045"/>
            <a:ext cx="39566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FF0000"/>
                </a:solidFill>
              </a:rPr>
              <a:t>音频处理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pic>
        <p:nvPicPr>
          <p:cNvPr id="5" name="图片 4" descr="u=3668997193,3266328640&amp;fm=26&amp;gp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55" y="1901825"/>
            <a:ext cx="3795395" cy="21164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6525" y="5116830"/>
            <a:ext cx="38887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</a:rPr>
              <a:t>信号发生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pic>
        <p:nvPicPr>
          <p:cNvPr id="7" name="图片 6" descr="timg (1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905" y="1425575"/>
            <a:ext cx="3664585" cy="27482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77715" y="5062220"/>
            <a:ext cx="31476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</a:rPr>
              <a:t>视讯处理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pic>
        <p:nvPicPr>
          <p:cNvPr id="9" name="图片 8" descr="QQ图片201910072232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10213"/>
            <a:ext cx="12192000" cy="940214"/>
          </a:xfrm>
        </p:spPr>
        <p:txBody>
          <a:bodyPr/>
          <a:lstStyle/>
          <a:p>
            <a:pPr algn="ctr"/>
            <a:r>
              <a:rPr lang="zh-CN" altLang="en-US" sz="4400" dirty="0">
                <a:solidFill>
                  <a:srgbClr val="FF0000"/>
                </a:solidFill>
              </a:rPr>
              <a:t>第二次作业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07990" y="1249115"/>
            <a:ext cx="669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基础部分：呼吸灯电路，工作时，LED呈现出亮灭周期性变化效果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拓展部分：通过更改电路参数，实现时间常数可调，从而实现</a:t>
            </a:r>
            <a:r>
              <a:rPr lang="en-US" altLang="zh-CN" dirty="0">
                <a:solidFill>
                  <a:srgbClr val="FF0000"/>
                </a:solidFill>
              </a:rPr>
              <a:t>LED</a:t>
            </a:r>
            <a:r>
              <a:rPr lang="zh-CN" altLang="en-US" dirty="0">
                <a:solidFill>
                  <a:srgbClr val="FF0000"/>
                </a:solidFill>
              </a:rPr>
              <a:t>闪烁频率可调。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07990" y="2501423"/>
            <a:ext cx="64941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整个电路可分为两个部分：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一是由U1B以及外围元件组成的方波信号发生电路（电压比较器）；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二是由U1A以及外围元件组成的三角波发生电路（积分电路）；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939" y="4019992"/>
            <a:ext cx="3369945" cy="25012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84012" y="3651692"/>
            <a:ext cx="2463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LM358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双路运放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4620260" y="3453130"/>
              <a:ext cx="304800" cy="9207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4620260" y="3453130"/>
                <a:ext cx="304800" cy="92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4905375" y="3486785"/>
              <a:ext cx="5080" cy="508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4905375" y="3486785"/>
                <a:ext cx="508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6" name="墨迹 5"/>
              <p14:cNvContentPartPr/>
              <p14:nvPr/>
            </p14:nvContentPartPr>
            <p14:xfrm>
              <a:off x="4648835" y="3453130"/>
              <a:ext cx="101600" cy="1460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9"/>
            </p:blipFill>
            <p:spPr>
              <a:xfrm>
                <a:off x="4648835" y="3453130"/>
                <a:ext cx="10160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4653915" y="3477260"/>
              <a:ext cx="275590" cy="952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4653915" y="3477260"/>
                <a:ext cx="27559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3" name="墨迹 12"/>
              <p14:cNvContentPartPr/>
              <p14:nvPr/>
            </p14:nvContentPartPr>
            <p14:xfrm>
              <a:off x="4663440" y="3477260"/>
              <a:ext cx="247015" cy="5334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3"/>
            </p:blipFill>
            <p:spPr>
              <a:xfrm>
                <a:off x="4663440" y="3477260"/>
                <a:ext cx="247015" cy="533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4" name="墨迹 13"/>
              <p14:cNvContentPartPr/>
              <p14:nvPr/>
            </p14:nvContentPartPr>
            <p14:xfrm>
              <a:off x="4576445" y="3472180"/>
              <a:ext cx="227330" cy="2413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5"/>
            </p:blipFill>
            <p:spPr>
              <a:xfrm>
                <a:off x="4576445" y="3472180"/>
                <a:ext cx="22733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5" name="墨迹 14"/>
              <p14:cNvContentPartPr/>
              <p14:nvPr/>
            </p14:nvContentPartPr>
            <p14:xfrm>
              <a:off x="4653915" y="3515995"/>
              <a:ext cx="266065" cy="952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7"/>
            </p:blipFill>
            <p:spPr>
              <a:xfrm>
                <a:off x="4653915" y="3515995"/>
                <a:ext cx="26606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6" name="墨迹 15"/>
              <p14:cNvContentPartPr/>
              <p14:nvPr/>
            </p14:nvContentPartPr>
            <p14:xfrm>
              <a:off x="4852035" y="3472180"/>
              <a:ext cx="14605" cy="508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9"/>
            </p:blipFill>
            <p:spPr>
              <a:xfrm>
                <a:off x="4852035" y="3472180"/>
                <a:ext cx="14605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7" name="墨迹 16"/>
              <p14:cNvContentPartPr/>
              <p14:nvPr/>
            </p14:nvContentPartPr>
            <p14:xfrm>
              <a:off x="4750435" y="3467735"/>
              <a:ext cx="160020" cy="1397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1"/>
            </p:blipFill>
            <p:spPr>
              <a:xfrm>
                <a:off x="4750435" y="3467735"/>
                <a:ext cx="160020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8" name="墨迹 17"/>
              <p14:cNvContentPartPr/>
              <p14:nvPr/>
            </p14:nvContentPartPr>
            <p14:xfrm>
              <a:off x="4794250" y="3472180"/>
              <a:ext cx="120650" cy="4381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3"/>
            </p:blipFill>
            <p:spPr>
              <a:xfrm>
                <a:off x="4794250" y="3472180"/>
                <a:ext cx="120650" cy="438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9" name="墨迹 18"/>
              <p14:cNvContentPartPr/>
              <p14:nvPr/>
            </p14:nvContentPartPr>
            <p14:xfrm>
              <a:off x="4803775" y="3496310"/>
              <a:ext cx="67945" cy="1460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5"/>
            </p:blipFill>
            <p:spPr>
              <a:xfrm>
                <a:off x="4803775" y="3496310"/>
                <a:ext cx="67945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0" name="墨迹 19"/>
              <p14:cNvContentPartPr/>
              <p14:nvPr/>
            </p14:nvContentPartPr>
            <p14:xfrm>
              <a:off x="4775200" y="3477260"/>
              <a:ext cx="159385" cy="5778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7"/>
            </p:blipFill>
            <p:spPr>
              <a:xfrm>
                <a:off x="4775200" y="3477260"/>
                <a:ext cx="159385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1" name="墨迹 20"/>
              <p14:cNvContentPartPr/>
              <p14:nvPr/>
            </p14:nvContentPartPr>
            <p14:xfrm>
              <a:off x="4842510" y="3496310"/>
              <a:ext cx="86995" cy="1968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9"/>
            </p:blipFill>
            <p:spPr>
              <a:xfrm>
                <a:off x="4842510" y="3496310"/>
                <a:ext cx="86995" cy="19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2" name="墨迹 21"/>
              <p14:cNvContentPartPr/>
              <p14:nvPr/>
            </p14:nvContentPartPr>
            <p14:xfrm>
              <a:off x="4591050" y="3496310"/>
              <a:ext cx="77470" cy="508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1"/>
            </p:blipFill>
            <p:spPr>
              <a:xfrm>
                <a:off x="4591050" y="3496310"/>
                <a:ext cx="7747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3" name="墨迹 22"/>
              <p14:cNvContentPartPr/>
              <p14:nvPr/>
            </p14:nvContentPartPr>
            <p14:xfrm>
              <a:off x="4624705" y="3506470"/>
              <a:ext cx="14605" cy="1397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3"/>
            </p:blipFill>
            <p:spPr>
              <a:xfrm>
                <a:off x="4624705" y="3506470"/>
                <a:ext cx="1460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4" name="墨迹 23"/>
              <p14:cNvContentPartPr/>
              <p14:nvPr/>
            </p14:nvContentPartPr>
            <p14:xfrm>
              <a:off x="4634865" y="3481705"/>
              <a:ext cx="13970" cy="2921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5"/>
            </p:blipFill>
            <p:spPr>
              <a:xfrm>
                <a:off x="4634865" y="3481705"/>
                <a:ext cx="13970" cy="29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5" name="墨迹 24"/>
              <p14:cNvContentPartPr/>
              <p14:nvPr/>
            </p14:nvContentPartPr>
            <p14:xfrm>
              <a:off x="4618355" y="3508375"/>
              <a:ext cx="29210" cy="1968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37"/>
            </p:blipFill>
            <p:spPr>
              <a:xfrm>
                <a:off x="4618355" y="3508375"/>
                <a:ext cx="29210" cy="19685"/>
              </a:xfrm>
              <a:prstGeom prst="rect"/>
            </p:spPr>
          </p:pic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9865" y="1150427"/>
            <a:ext cx="5320050" cy="4970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4661" y="1641159"/>
            <a:ext cx="6908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实际电路图</a:t>
            </a:r>
            <a:endParaRPr lang="zh-CN" altLang="en-US" sz="4800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algn="ctr"/>
            <a:endParaRPr lang="zh-CN" altLang="en-US" sz="4000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</p:txBody>
      </p:sp>
      <p:pic>
        <p:nvPicPr>
          <p:cNvPr id="5" name="图片 4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228600"/>
            <a:ext cx="9582150" cy="640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Q图片20191007223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5" y="5590540"/>
            <a:ext cx="1292225" cy="12674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94337" y="2875560"/>
            <a:ext cx="73056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</a:rPr>
              <a:t>小结</a:t>
            </a:r>
            <a:r>
              <a:rPr lang="en-US" altLang="zh-CN" sz="4000" dirty="0">
                <a:solidFill>
                  <a:srgbClr val="FF0000"/>
                </a:solidFill>
              </a:rPr>
              <a:t>&amp;</a:t>
            </a:r>
            <a:r>
              <a:rPr lang="zh-CN" altLang="en-US" sz="4000" dirty="0">
                <a:solidFill>
                  <a:srgbClr val="FF0000"/>
                </a:solidFill>
              </a:rPr>
              <a:t>答疑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3c16be85-dcc2-441e-8683-3b7105dd9b5d"/>
  <p:tag name="COMMONDATA" val="eyJoZGlkIjoiZGU5MmQ1ZWY2YWJmMTc1OWIxNjE5OTM3NjMwNTkyZTg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电路</Template>
  <TotalTime>0</TotalTime>
  <Words>2560</Words>
  <Application>WPS 演示</Application>
  <PresentationFormat>宽屏</PresentationFormat>
  <Paragraphs>267</Paragraphs>
  <Slides>25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25</vt:i4>
      </vt:variant>
    </vt:vector>
  </HeadingPairs>
  <TitlesOfParts>
    <vt:vector size="65" baseType="lpstr">
      <vt:lpstr>Arial</vt:lpstr>
      <vt:lpstr>宋体</vt:lpstr>
      <vt:lpstr>Wingdings</vt:lpstr>
      <vt:lpstr>Trebuchet MS</vt:lpstr>
      <vt:lpstr>Calibri</vt:lpstr>
      <vt:lpstr>微软雅黑</vt:lpstr>
      <vt:lpstr>Times New Roman</vt:lpstr>
      <vt:lpstr>楷体_GB2312</vt:lpstr>
      <vt:lpstr>新宋体</vt:lpstr>
      <vt:lpstr>Tw Cen MT</vt:lpstr>
      <vt:lpstr>Arial Unicode MS</vt:lpstr>
      <vt:lpstr>等线</vt:lpstr>
      <vt:lpstr>Helvetica Neue</vt:lpstr>
      <vt:lpstr>-apple-system</vt:lpstr>
      <vt:lpstr>Tahoma</vt:lpstr>
      <vt:lpstr>Symbol</vt:lpstr>
      <vt:lpstr>黑体</vt:lpstr>
      <vt:lpstr>Cambria Math</vt:lpstr>
      <vt:lpstr>Segoe Print</vt:lpstr>
      <vt:lpstr>电路</vt:lpstr>
      <vt:lpstr>Visio.Drawing.11</vt:lpstr>
      <vt:lpstr>Equation.DSMT4</vt:lpstr>
      <vt:lpstr>Equation.DSMT4</vt:lpstr>
      <vt:lpstr>Visio.Drawing.11</vt:lpstr>
      <vt:lpstr>Equation.3</vt:lpstr>
      <vt:lpstr>Equation.3</vt:lpstr>
      <vt:lpstr>Visio.Drawing.11</vt:lpstr>
      <vt:lpstr>Equation.KSEE3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Visio.Drawing.11</vt:lpstr>
      <vt:lpstr>Equation.DSMT4</vt:lpstr>
      <vt:lpstr>Equation.DSMT4</vt:lpstr>
      <vt:lpstr>Equation.DSMT4</vt:lpstr>
      <vt:lpstr>PowerPoint 演示文稿</vt:lpstr>
      <vt:lpstr>上轮作业问题点评</vt:lpstr>
      <vt:lpstr>			如何使用万用表？</vt:lpstr>
      <vt:lpstr>     集成运算放大器，简称集成运放。一种应用极其广泛的集成器件，它采用微电子技术将大量晶体管、电阻、电容及他们之间的连线制作在一小块硅片上，构成一个具有一定功能的单元运用在电路系统。      拆解集成运算放大器：      集成：将电路封装，留出接口，使其模块化，便于移植。      运算：这里涉及到的是一些数学运算，不过这里的运算对象不仅是简单的数字，还有电路参量。      放大器：即将电参量进行放大，比如将电压从1V放大至5V。      总的来说，就是通过内部元器件的电参量关系将电参量进行运算，达到放大目的。</vt:lpstr>
      <vt:lpstr>PowerPoint 演示文稿</vt:lpstr>
      <vt:lpstr>集成运算放大器内部结构</vt:lpstr>
      <vt:lpstr>                                                      </vt:lpstr>
      <vt:lpstr>集成运算放大器的理想特性：</vt:lpstr>
      <vt:lpstr>集成运放的两个工作区</vt:lpstr>
      <vt:lpstr>PowerPoint 演示文稿</vt:lpstr>
      <vt:lpstr>PowerPoint 演示文稿</vt:lpstr>
      <vt:lpstr>集成运放的特点：高电压增益（放大倍数高），       高输入阻抗 低输出阻抗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第二次作业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集成运算放大器</dc:title>
  <dc:creator>Windows 用户</dc:creator>
  <cp:lastModifiedBy>嘉木</cp:lastModifiedBy>
  <cp:revision>146</cp:revision>
  <dcterms:created xsi:type="dcterms:W3CDTF">2018-10-30T10:40:00Z</dcterms:created>
  <dcterms:modified xsi:type="dcterms:W3CDTF">2026-10-17T07:38:54Z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5A01A6F9A27E465690908FF7A03E9890</vt:lpwstr>
  </property>
</Properties>
</file>