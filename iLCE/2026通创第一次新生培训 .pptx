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8" r:id="rId4"/>
    <p:sldId id="30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7" r:id="rId30"/>
    <p:sldId id="294" r:id="rId31"/>
    <p:sldId id="295" r:id="rId32"/>
    <p:sldId id="296" r:id="rId33"/>
    <p:sldId id="297" r:id="rId34"/>
    <p:sldId id="298" r:id="rId35"/>
    <p:sldId id="299" r:id="rId36"/>
    <p:sldId id="30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mons" initials="authorId_519401479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7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95981-17E4-4F00-8F92-6C0CC2F233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87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7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87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7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7355B-8ED9-43F4-A0A7-6D6B0B433D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色环电阻用电表打</a:t>
            </a:r>
            <a:r>
              <a:rPr lang="en-US" altLang="zh-CN"/>
              <a:t> 6R80</a:t>
            </a:r>
            <a:r>
              <a:rPr lang="zh-CN" altLang="en-US"/>
              <a:t>是</a:t>
            </a:r>
            <a:r>
              <a:rPr lang="en-US" altLang="zh-CN"/>
              <a:t>6.80</a:t>
            </a:r>
            <a:r>
              <a:rPr lang="zh-CN" altLang="en-US"/>
              <a:t>欧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103=10*10^3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电解</a:t>
            </a:r>
            <a:r>
              <a:rPr lang="zh-CN" altLang="en-US"/>
              <a:t>电容长正短负</a:t>
            </a:r>
            <a:r>
              <a:rPr lang="en-US" altLang="zh-CN"/>
              <a:t> </a:t>
            </a:r>
            <a:r>
              <a:rPr lang="zh-CN" altLang="en-US"/>
              <a:t>白条为</a:t>
            </a:r>
            <a:r>
              <a:rPr lang="zh-CN" altLang="en-US"/>
              <a:t>负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画图讲解（电阻</a:t>
            </a:r>
            <a:r>
              <a:rPr lang="zh-CN" altLang="en-US"/>
              <a:t>分压）高中正负极，正极相当于</a:t>
            </a:r>
            <a:r>
              <a:rPr lang="en-US" altLang="zh-CN"/>
              <a:t>VCC</a:t>
            </a:r>
            <a:r>
              <a:rPr lang="zh-CN" altLang="en-US"/>
              <a:t>，负极相当于</a:t>
            </a:r>
            <a:r>
              <a:rPr lang="en-US" altLang="zh-CN"/>
              <a:t>GND</a:t>
            </a:r>
            <a:r>
              <a:rPr lang="zh-CN" altLang="en-US"/>
              <a:t>，在数字电路和信号处理电路中，</a:t>
            </a:r>
            <a:r>
              <a:rPr lang="en-US" altLang="zh-CN"/>
              <a:t>VSS</a:t>
            </a:r>
            <a:r>
              <a:rPr lang="zh-CN" altLang="en-US"/>
              <a:t>和</a:t>
            </a:r>
            <a:r>
              <a:rPr lang="en-US" altLang="zh-CN"/>
              <a:t>GND</a:t>
            </a:r>
            <a:r>
              <a:rPr lang="zh-CN" altLang="en-US"/>
              <a:t>可以看作</a:t>
            </a:r>
            <a:r>
              <a:rPr lang="zh-CN" altLang="en-US"/>
              <a:t>等同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问什么是半导体，导电性介于导体和绝缘体之间的材料，硅原子结构稳定，因为外围构成四个共价键，而要实现导电需要可移动的电子，施加外部作用，激发出电子，形成电子空穴，空穴和电场一样，不存在，是设想的，且不可以的移动。纯净半导体，导电能力很差，给它掺加其他元素，就有了杂质</a:t>
            </a:r>
            <a:r>
              <a:rPr lang="zh-CN" altLang="en-US"/>
              <a:t>半导体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</a:t>
            </a:r>
            <a:r>
              <a:rPr lang="zh-CN" altLang="en-US"/>
              <a:t>外部</a:t>
            </a:r>
            <a:r>
              <a:rPr lang="en-US" altLang="zh-CN"/>
              <a:t>5</a:t>
            </a:r>
            <a:r>
              <a:rPr lang="zh-CN" altLang="en-US"/>
              <a:t>个价电子，</a:t>
            </a:r>
            <a:r>
              <a:rPr lang="en-US" altLang="zh-CN"/>
              <a:t>4</a:t>
            </a:r>
            <a:r>
              <a:rPr lang="zh-CN" altLang="en-US"/>
              <a:t>个形成共价键，还有一个自由电子，所以在此结构中自由电子更多，称自由电子为多子，且因为自由电子带负电，所以这种半导体称为</a:t>
            </a:r>
            <a:r>
              <a:rPr lang="en-US" altLang="zh-CN"/>
              <a:t>N</a:t>
            </a:r>
            <a:r>
              <a:rPr lang="zh-CN" altLang="en-US"/>
              <a:t>型半导体，</a:t>
            </a:r>
            <a:r>
              <a:rPr lang="en-US" altLang="zh-CN"/>
              <a:t>N</a:t>
            </a:r>
            <a:r>
              <a:rPr lang="zh-CN" altLang="en-US"/>
              <a:t>型半导体自由电子多，那么肯定有空穴多的半导体，也就是我们的</a:t>
            </a:r>
            <a:r>
              <a:rPr lang="en-US" altLang="zh-CN"/>
              <a:t>P</a:t>
            </a:r>
            <a:r>
              <a:rPr lang="zh-CN" altLang="en-US"/>
              <a:t>型</a:t>
            </a:r>
            <a:r>
              <a:rPr lang="zh-CN" altLang="en-US"/>
              <a:t>半导体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</a:t>
            </a:r>
            <a:r>
              <a:rPr lang="zh-CN" altLang="en-US"/>
              <a:t>的价电子为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个全部参与形成共价键，而还缺一个形成共价键，那么就还会有一个空穴，这种半导体中，空穴就是多子，空穴带正电，所以该种半导体称为</a:t>
            </a:r>
            <a:r>
              <a:rPr lang="en-US" altLang="zh-CN"/>
              <a:t>P</a:t>
            </a:r>
            <a:r>
              <a:rPr lang="zh-CN" altLang="en-US"/>
              <a:t>型半导体。提问为什么不掺杂高价</a:t>
            </a:r>
            <a:r>
              <a:rPr lang="zh-CN" altLang="en-US"/>
              <a:t>元素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当把它们放在一起时，因为</a:t>
            </a:r>
            <a:r>
              <a:rPr lang="en-US" altLang="zh-CN"/>
              <a:t>P</a:t>
            </a:r>
            <a:r>
              <a:rPr lang="zh-CN" altLang="en-US"/>
              <a:t>型和</a:t>
            </a:r>
            <a:r>
              <a:rPr lang="en-US" altLang="zh-CN"/>
              <a:t>N</a:t>
            </a:r>
            <a:r>
              <a:rPr lang="zh-CN" altLang="en-US"/>
              <a:t>型之间的多子不一样，存在浓度差，在浓度差的影响下，</a:t>
            </a:r>
            <a:r>
              <a:rPr lang="en-US" altLang="zh-CN"/>
              <a:t>N</a:t>
            </a:r>
            <a:r>
              <a:rPr lang="zh-CN" altLang="en-US"/>
              <a:t>区自由电子往</a:t>
            </a:r>
            <a:r>
              <a:rPr lang="en-US" altLang="zh-CN"/>
              <a:t>P</a:t>
            </a:r>
            <a:r>
              <a:rPr lang="zh-CN" altLang="en-US"/>
              <a:t>区移动，</a:t>
            </a:r>
            <a:r>
              <a:rPr lang="en-US" altLang="zh-CN"/>
              <a:t>P</a:t>
            </a:r>
            <a:r>
              <a:rPr lang="zh-CN" altLang="en-US"/>
              <a:t>区的空穴往</a:t>
            </a:r>
            <a:r>
              <a:rPr lang="en-US" altLang="zh-CN"/>
              <a:t>N</a:t>
            </a:r>
            <a:r>
              <a:rPr lang="zh-CN" altLang="en-US"/>
              <a:t>区移动，这种运动就称之为多子的扩散运动，同时部分少子也会进行与多子相反的运动，称为漂移运动，由于多子的扩散运动，在交接面两侧形成空间电荷区，又因为多子在这个区域进行复合消耗，所以此区域也称为耗尽区。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电子和空穴因复合而消失。空间电荷区只剩下不能参加导电的正，负离子，破坏了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P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区和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N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区的电中性，所以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P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区带负电，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N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区带正电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,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由此有一个内电场，由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N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区指向</a:t>
            </a:r>
            <a:r>
              <a:rPr lang="en-US" altLang="zh-CN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P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区。内电场的存在阻碍扩散运动，加强漂移运动，在没有外加电场的情况下，扩散运动和漂移运动就会达成一个平衡</a:t>
            </a:r>
            <a:r>
              <a:rPr lang="zh-CN" altLang="en-US" dirty="0">
                <a:solidFill>
                  <a:schemeClr val="bg1"/>
                </a:solidFill>
                <a:effectLst/>
                <a:latin typeface="-apple-system"/>
                <a:sym typeface="+mn-ea"/>
              </a:rPr>
              <a:t>态。</a:t>
            </a:r>
            <a:endParaRPr lang="zh-CN" altLang="en-US" dirty="0">
              <a:solidFill>
                <a:schemeClr val="bg1"/>
              </a:solidFill>
              <a:effectLst/>
              <a:latin typeface="-apple-system"/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正偏即</a:t>
            </a:r>
            <a:r>
              <a:rPr lang="en-US" altLang="zh-CN"/>
              <a:t>P</a:t>
            </a:r>
            <a:r>
              <a:rPr lang="zh-CN" altLang="en-US"/>
              <a:t>接正极，</a:t>
            </a:r>
            <a:r>
              <a:rPr lang="en-US" altLang="zh-CN"/>
              <a:t>N</a:t>
            </a:r>
            <a:r>
              <a:rPr lang="zh-CN" altLang="en-US"/>
              <a:t>接负极，此时外电场与内电场方向相反，削弱内电场并破坏扩散运动和漂移运动的平衡，</a:t>
            </a:r>
            <a:r>
              <a:rPr lang="zh-CN" altLang="en-US">
                <a:sym typeface="+mn-ea"/>
              </a:rPr>
              <a:t>当不断增强外加电压，外电场不断增强，</a:t>
            </a:r>
            <a:r>
              <a:rPr lang="zh-CN" altLang="en-US"/>
              <a:t>直到完全抵消内电场，扩散运动不断加强，形成大的扩散电流，此时</a:t>
            </a:r>
            <a:r>
              <a:rPr lang="en-US" altLang="zh-CN"/>
              <a:t>PN</a:t>
            </a:r>
            <a:r>
              <a:rPr lang="zh-CN" altLang="en-US"/>
              <a:t>结就导通</a:t>
            </a:r>
            <a:r>
              <a:rPr lang="zh-CN" altLang="en-US"/>
              <a:t>了。</a:t>
            </a:r>
            <a:endParaRPr lang="zh-CN" altLang="en-US"/>
          </a:p>
          <a:p>
            <a:r>
              <a:rPr lang="zh-CN" altLang="en-US"/>
              <a:t>反偏即</a:t>
            </a:r>
            <a:r>
              <a:rPr lang="en-US" altLang="zh-CN"/>
              <a:t>P</a:t>
            </a:r>
            <a:r>
              <a:rPr lang="zh-CN" altLang="en-US"/>
              <a:t>接负极，</a:t>
            </a:r>
            <a:r>
              <a:rPr lang="en-US" altLang="zh-CN"/>
              <a:t>N</a:t>
            </a:r>
            <a:r>
              <a:rPr lang="zh-CN" altLang="en-US"/>
              <a:t>接正极，外电场增强内电场，阻碍多子的扩散运动，增强漂移运动，因为少子很少，所以形成电流很小，呈现了高阻</a:t>
            </a:r>
            <a:r>
              <a:rPr lang="zh-CN" altLang="en-US"/>
              <a:t>态。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en-US" altLang="zh-CN"/>
              <a:t>PN</a:t>
            </a:r>
            <a:r>
              <a:rPr lang="zh-CN" altLang="en-US"/>
              <a:t>结具有单向导通</a:t>
            </a:r>
            <a:r>
              <a:rPr lang="zh-CN" altLang="en-US"/>
              <a:t>性</a:t>
            </a:r>
            <a:endParaRPr lang="zh-CN" altLang="en-US"/>
          </a:p>
          <a:p>
            <a:r>
              <a:rPr lang="zh-CN" altLang="en-US"/>
              <a:t>画出伏安特性曲线，</a:t>
            </a:r>
            <a:r>
              <a:rPr lang="en-US" altLang="zh-CN"/>
              <a:t>x</a:t>
            </a:r>
            <a:r>
              <a:rPr lang="zh-CN" altLang="en-US"/>
              <a:t>为</a:t>
            </a:r>
            <a:r>
              <a:rPr lang="en-US" altLang="zh-CN"/>
              <a:t>V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为</a:t>
            </a:r>
            <a:r>
              <a:rPr lang="en-US" altLang="zh-CN"/>
              <a:t>I/</a:t>
            </a:r>
            <a:r>
              <a:rPr lang="en-US" altLang="zh-CN"/>
              <a:t>mA</a:t>
            </a: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死区即外电场逐渐克服内电场的</a:t>
            </a:r>
            <a:r>
              <a:rPr lang="zh-CN" altLang="en-US"/>
              <a:t>过程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稳压管大电压变化电流几乎不</a:t>
            </a:r>
            <a:r>
              <a:rPr lang="zh-CN" altLang="en-US"/>
              <a:t>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接下来是本次培训最重要的</a:t>
            </a:r>
            <a:r>
              <a:rPr lang="zh-CN" altLang="en-US"/>
              <a:t>部分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</a:t>
            </a:r>
            <a:r>
              <a:rPr lang="en-US" altLang="zh-CN"/>
              <a:t>NPN</a:t>
            </a:r>
            <a:r>
              <a:rPr lang="zh-CN" altLang="en-US"/>
              <a:t>型</a:t>
            </a:r>
            <a:r>
              <a:rPr lang="zh-CN" altLang="en-US"/>
              <a:t>为例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发射极掺杂浓度高，自由电子多，基区很薄，当给发射极正向电压时发射极的大量自由电子涌向基极，</a:t>
            </a:r>
            <a:r>
              <a:rPr lang="zh-CN" altLang="zh-CN">
                <a:solidFill>
                  <a:srgbClr val="FFFFFF"/>
                </a:solidFill>
                <a:sym typeface="+mn-ea"/>
              </a:rPr>
              <a:t>基区短时间内吸收不了这么多电子，只有一少部分电子与空穴复合形成基极电流，所以需要让电子流向集电极，于是给集电极施加反向电压，使它反偏。由此就得出三极管的导通原理，发射极正偏，集电极</a:t>
            </a:r>
            <a:r>
              <a:rPr lang="zh-CN" altLang="zh-CN">
                <a:solidFill>
                  <a:srgbClr val="FFFFFF"/>
                </a:solidFill>
                <a:sym typeface="+mn-ea"/>
              </a:rPr>
              <a:t>反偏</a:t>
            </a:r>
            <a:endParaRPr lang="zh-CN" altLang="zh-CN">
              <a:solidFill>
                <a:srgbClr val="FFFFFF"/>
              </a:solidFill>
              <a:sym typeface="+mn-ea"/>
            </a:endParaRPr>
          </a:p>
          <a:p>
            <a:r>
              <a:rPr lang="zh-CN" altLang="zh-CN">
                <a:solidFill>
                  <a:srgbClr val="FFFFFF"/>
                </a:solidFill>
                <a:sym typeface="+mn-ea"/>
              </a:rPr>
              <a:t>第二张图，</a:t>
            </a:r>
            <a:r>
              <a:rPr lang="zh-CN">
                <a:solidFill>
                  <a:srgbClr val="FF0000"/>
                </a:solidFill>
                <a:sym typeface="+mn-ea"/>
              </a:rPr>
              <a:t>IE = IC + IB</a:t>
            </a:r>
            <a:endParaRPr 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FFFF"/>
              </a:solidFill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6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6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9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5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17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1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61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5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5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5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6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6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6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6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3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6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6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6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7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2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4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4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4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4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4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4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5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3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3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3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4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78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78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8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1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1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1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2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2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2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2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2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2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78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8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1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9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9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79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79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9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0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01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80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0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0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80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80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80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0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89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9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7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9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775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8776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104877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77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hyperlink" Target="https://www.digikey.cn/zh/resources/conversion-calculators/conversion-calculator-resistor-color-code" TargetMode="External"/><Relationship Id="rId3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标题 3"/>
          <p:cNvSpPr>
            <a:spLocks noGrp="1"/>
          </p:cNvSpPr>
          <p:nvPr>
            <p:ph type="title"/>
          </p:nvPr>
        </p:nvSpPr>
        <p:spPr>
          <a:xfrm>
            <a:off x="483870" y="1376680"/>
            <a:ext cx="11363960" cy="1200150"/>
          </a:xfrm>
        </p:spPr>
        <p:txBody>
          <a:bodyPr>
            <a:normAutofit fontScale="90000"/>
          </a:bodyPr>
          <a:lstStyle/>
          <a:p>
            <a:r>
              <a:rPr lang="en-US" altLang="zh-CN" sz="6665" cap="all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ILCE</a:t>
            </a:r>
            <a:r>
              <a:rPr lang="zh-CN" altLang="en-US" sz="6665" cap="all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通信创新实验室第一次培训</a:t>
            </a:r>
            <a:endParaRPr lang="en-US" altLang="zh-CN" sz="6665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2355" y="4902835"/>
            <a:ext cx="31661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主讲人：</a:t>
            </a:r>
            <a:endParaRPr lang="zh-CN" altLang="en-US" sz="2800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标题 3"/>
          <p:cNvSpPr>
            <a:spLocks noGrp="1"/>
          </p:cNvSpPr>
          <p:nvPr>
            <p:ph type="title"/>
          </p:nvPr>
        </p:nvSpPr>
        <p:spPr>
          <a:xfrm>
            <a:off x="893496" y="2689814"/>
            <a:ext cx="5015497" cy="98508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基本元器件</a:t>
            </a:r>
            <a:endParaRPr lang="en-US" altLang="zh-CN" sz="60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23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24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25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26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电阻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60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028" y="2144177"/>
            <a:ext cx="8570761" cy="1437223"/>
          </a:xfrm>
          <a:prstGeom prst="rect">
            <a:avLst/>
          </a:prstGeom>
        </p:spPr>
      </p:pic>
      <p:sp>
        <p:nvSpPr>
          <p:cNvPr id="1048627" name="文本框 16"/>
          <p:cNvSpPr txBox="1"/>
          <p:nvPr/>
        </p:nvSpPr>
        <p:spPr>
          <a:xfrm>
            <a:off x="1552073" y="3728249"/>
            <a:ext cx="93926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电阻器（Resistance，通常用R表示），其原理是阻碍电流。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29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30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31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32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电阻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33" name="Text 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7452" y="1467311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色环电阻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34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82605" y="2072149"/>
            <a:ext cx="716438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电阻器上不同颜色的环表示电阻的阻值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61" name="Picture 2" descr="https://timgsa.baidu.com/timg?image&amp;quality=80&amp;size=b9999_10000&amp;sec=1515923479420&amp;di=c31298993d61a348295f9babb1b1f17d&amp;imgtype=0&amp;src=http%3A%2F%2Fwww.dgyhr.com%2FupLoad%2Fproduct%2Fmonth_1311%2F201311070039143351.jpg"/>
          <p:cNvPicPr>
            <a:picLocks noChangeAspect="1" noChangeArrowheads="1"/>
          </p:cNvPicPr>
          <p:nvPr/>
        </p:nvPicPr>
        <p:blipFill>
          <a:blip r:embed="rId5" cstate="hqprint"/>
          <a:srcRect t="16766" b="17756"/>
          <a:stretch>
            <a:fillRect/>
          </a:stretch>
        </p:blipFill>
        <p:spPr bwMode="auto">
          <a:xfrm>
            <a:off x="8257507" y="3301826"/>
            <a:ext cx="2564130" cy="1678940"/>
          </a:xfrm>
          <a:prstGeom prst="rect">
            <a:avLst/>
          </a:prstGeom>
          <a:noFill/>
        </p:spPr>
      </p:pic>
      <p:pic>
        <p:nvPicPr>
          <p:cNvPr id="2097162" name="Picture 13" descr="http://www.dzsc.com/data/uploadfile/201462094736536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257507" y="1606376"/>
            <a:ext cx="2564765" cy="1515110"/>
          </a:xfrm>
          <a:prstGeom prst="rect">
            <a:avLst/>
          </a:prstGeom>
          <a:noFill/>
        </p:spPr>
      </p:pic>
      <p:pic>
        <p:nvPicPr>
          <p:cNvPr id="2097163" name="Picture 27" descr="https://timgsa.baidu.com/timg?image&amp;quality=80&amp;size=b9999_10000&amp;sec=1515920435327&amp;di=3d7822e8fab587fbd53c63cb5cfcdbae&amp;imgtype=0&amp;src=http%3A%2F%2Fstatic6.photo.sina.com.cn%2Fbmiddle%2F49ccedb306fb5bb53dcc5"/>
          <p:cNvPicPr>
            <a:picLocks noChangeAspect="1" noChangeArrowheads="1"/>
          </p:cNvPicPr>
          <p:nvPr/>
        </p:nvPicPr>
        <p:blipFill>
          <a:blip r:embed="rId7"/>
          <a:srcRect t="15518" b="6664"/>
          <a:stretch>
            <a:fillRect/>
          </a:stretch>
        </p:blipFill>
        <p:spPr bwMode="auto">
          <a:xfrm>
            <a:off x="8257507" y="5134436"/>
            <a:ext cx="2564130" cy="1512570"/>
          </a:xfrm>
          <a:prstGeom prst="rect">
            <a:avLst/>
          </a:prstGeom>
          <a:noFill/>
        </p:spPr>
      </p:pic>
      <p:sp>
        <p:nvSpPr>
          <p:cNvPr id="1048635" name="Text Box 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97452" y="3244041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贴片电阻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36" name="Rectangle 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82605" y="3848879"/>
            <a:ext cx="716438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电阻器上的数字表示电阻的阻值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37" name="Text Box 3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7452" y="4997911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光敏电阻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38" name="Rectangle 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82605" y="5602749"/>
            <a:ext cx="716438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根据光照强度的变化阻值变化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4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09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04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04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09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09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3" grpId="0" animBg="1"/>
      <p:bldP spid="1048633" grpId="1" animBg="1"/>
      <p:bldP spid="1048634" grpId="0"/>
      <p:bldP spid="1048634" grpId="1"/>
      <p:bldP spid="1048635" grpId="0" animBg="1"/>
      <p:bldP spid="1048635" grpId="1" animBg="1"/>
      <p:bldP spid="1048636" grpId="0"/>
      <p:bldP spid="1048636" grpId="1"/>
      <p:bldP spid="1048637" grpId="0" animBg="1"/>
      <p:bldP spid="1048637" grpId="1" animBg="1"/>
      <p:bldP spid="1048638" grpId="0"/>
      <p:bldP spid="104863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40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41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42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43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电阻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64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254" y="1720055"/>
            <a:ext cx="3799710" cy="3607403"/>
          </a:xfrm>
          <a:prstGeom prst="rect">
            <a:avLst/>
          </a:prstGeom>
        </p:spPr>
      </p:pic>
      <p:sp>
        <p:nvSpPr>
          <p:cNvPr id="1048644" name="文本框 17"/>
          <p:cNvSpPr txBox="1"/>
          <p:nvPr/>
        </p:nvSpPr>
        <p:spPr>
          <a:xfrm>
            <a:off x="1668253" y="5526383"/>
            <a:ext cx="3942582" cy="624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色环电阻阻值可以根据上表读取，或者这里有个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hlinkClick r:id="rId4"/>
              </a:rPr>
              <a:t>小工具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65" name="图片 35" descr="timg"/>
          <p:cNvPicPr/>
          <p:nvPr/>
        </p:nvPicPr>
        <p:blipFill>
          <a:blip r:embed="rId5"/>
          <a:stretch>
            <a:fillRect/>
          </a:stretch>
        </p:blipFill>
        <p:spPr>
          <a:xfrm>
            <a:off x="6858033" y="1720053"/>
            <a:ext cx="3876301" cy="3604622"/>
          </a:xfrm>
          <a:prstGeom prst="rect">
            <a:avLst/>
          </a:prstGeom>
        </p:spPr>
      </p:pic>
      <p:sp>
        <p:nvSpPr>
          <p:cNvPr id="1048645" name="文本框 1048644"/>
          <p:cNvSpPr txBox="1"/>
          <p:nvPr/>
        </p:nvSpPr>
        <p:spPr>
          <a:xfrm>
            <a:off x="6858033" y="5450183"/>
            <a:ext cx="4000000" cy="7010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1800" b="1">
                <a:solidFill>
                  <a:srgbClr val="FFFFFF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前两位一位作为底数，最后一位为</a:t>
            </a:r>
            <a:r>
              <a:rPr lang="en-US" altLang="zh-CN" sz="1800" b="1">
                <a:solidFill>
                  <a:srgbClr val="FFFFFF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10</a:t>
            </a:r>
            <a:r>
              <a:rPr lang="zh-CN" altLang="en-US" sz="1800" b="1">
                <a:solidFill>
                  <a:srgbClr val="FFFFFF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的</a:t>
            </a:r>
            <a:r>
              <a:rPr lang="en-US" altLang="en-US" sz="1800" b="1">
                <a:solidFill>
                  <a:srgbClr val="FFFFFF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次方</a:t>
            </a:r>
            <a:endParaRPr lang="zh-CN" sz="28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09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4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09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04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4" grpId="0"/>
      <p:bldP spid="1048644" grpId="1"/>
      <p:bldP spid="1048645" grpId="0"/>
      <p:bldP spid="104864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47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48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49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50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66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079" y="1658814"/>
            <a:ext cx="3291840" cy="2435225"/>
          </a:xfrm>
          <a:prstGeom prst="rect">
            <a:avLst/>
          </a:prstGeom>
        </p:spPr>
      </p:pic>
      <p:pic>
        <p:nvPicPr>
          <p:cNvPr id="2097167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469" y="1658814"/>
            <a:ext cx="3343275" cy="2428875"/>
          </a:xfrm>
          <a:prstGeom prst="rect">
            <a:avLst/>
          </a:prstGeom>
        </p:spPr>
      </p:pic>
      <p:sp>
        <p:nvSpPr>
          <p:cNvPr id="1048651" name="文本框 6"/>
          <p:cNvSpPr txBox="1"/>
          <p:nvPr/>
        </p:nvSpPr>
        <p:spPr>
          <a:xfrm>
            <a:off x="1427214" y="4558224"/>
            <a:ext cx="3867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无极性电容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52" name="文本框 7"/>
          <p:cNvSpPr txBox="1"/>
          <p:nvPr/>
        </p:nvSpPr>
        <p:spPr>
          <a:xfrm>
            <a:off x="6790424" y="4558224"/>
            <a:ext cx="3867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有极性电容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53" name="文本框 11"/>
          <p:cNvSpPr txBox="1"/>
          <p:nvPr/>
        </p:nvSpPr>
        <p:spPr>
          <a:xfrm>
            <a:off x="2242852" y="5199186"/>
            <a:ext cx="8855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电容器（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Capacitance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，通常用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C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表示），其原理是将电能转化成电场能存储。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09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4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04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2" grpId="0"/>
      <p:bldP spid="1048652" grpId="1"/>
      <p:bldP spid="1048653" grpId="0"/>
      <p:bldP spid="104865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55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56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57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58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68" name="图片 9"/>
          <p:cNvPicPr>
            <a:picLocks noChangeAspect="1"/>
          </p:cNvPicPr>
          <p:nvPr/>
        </p:nvPicPr>
        <p:blipFill>
          <a:blip r:embed="rId3"/>
          <a:srcRect l="2490" t="7560" r="6407" b="4354"/>
          <a:stretch>
            <a:fillRect/>
          </a:stretch>
        </p:blipFill>
        <p:spPr>
          <a:xfrm>
            <a:off x="8061893" y="3128898"/>
            <a:ext cx="1664970" cy="1604645"/>
          </a:xfrm>
          <a:prstGeom prst="rect">
            <a:avLst/>
          </a:prstGeom>
        </p:spPr>
      </p:pic>
      <p:pic>
        <p:nvPicPr>
          <p:cNvPr id="2097169" name="图片 12"/>
          <p:cNvPicPr>
            <a:picLocks noChangeAspect="1"/>
          </p:cNvPicPr>
          <p:nvPr/>
        </p:nvPicPr>
        <p:blipFill>
          <a:blip r:embed="rId4"/>
          <a:srcRect l="11827" t="17031" r="12920" b="17760"/>
          <a:stretch>
            <a:fillRect/>
          </a:stretch>
        </p:blipFill>
        <p:spPr>
          <a:xfrm>
            <a:off x="8061893" y="1337262"/>
            <a:ext cx="2081530" cy="1417320"/>
          </a:xfrm>
          <a:prstGeom prst="rect">
            <a:avLst/>
          </a:prstGeom>
        </p:spPr>
      </p:pic>
      <p:pic>
        <p:nvPicPr>
          <p:cNvPr id="2097170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893" y="5025959"/>
            <a:ext cx="2193290" cy="1612265"/>
          </a:xfrm>
          <a:prstGeom prst="rect">
            <a:avLst/>
          </a:prstGeom>
        </p:spPr>
      </p:pic>
      <p:sp>
        <p:nvSpPr>
          <p:cNvPr id="1048659" name="Text Box 3"/>
          <p:cNvSpPr txBox="1">
            <a:spLocks noChangeArrowheads="1"/>
          </p:cNvSpPr>
          <p:nvPr/>
        </p:nvSpPr>
        <p:spPr bwMode="auto">
          <a:xfrm>
            <a:off x="157345" y="1635999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电解电容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0" name="Rectangle 4"/>
          <p:cNvSpPr>
            <a:spLocks noChangeArrowheads="1"/>
          </p:cNvSpPr>
          <p:nvPr/>
        </p:nvSpPr>
        <p:spPr bwMode="auto">
          <a:xfrm>
            <a:off x="762006" y="2199735"/>
            <a:ext cx="755904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有极性电容，容值大，耐压值高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1" name="Text Box 3"/>
          <p:cNvSpPr txBox="1">
            <a:spLocks noChangeArrowheads="1"/>
          </p:cNvSpPr>
          <p:nvPr/>
        </p:nvSpPr>
        <p:spPr bwMode="auto">
          <a:xfrm>
            <a:off x="157346" y="3091114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陶瓷电容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2" name="Rectangle 4"/>
          <p:cNvSpPr>
            <a:spLocks noChangeArrowheads="1"/>
          </p:cNvSpPr>
          <p:nvPr/>
        </p:nvSpPr>
        <p:spPr bwMode="auto">
          <a:xfrm>
            <a:off x="842210" y="3696269"/>
            <a:ext cx="745964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无极性电容，容值小，耐压值低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3" name="Text Box 3"/>
          <p:cNvSpPr txBox="1">
            <a:spLocks noChangeArrowheads="1"/>
          </p:cNvSpPr>
          <p:nvPr/>
        </p:nvSpPr>
        <p:spPr bwMode="auto">
          <a:xfrm>
            <a:off x="157346" y="4844984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贴片电容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4" name="Rectangle 4"/>
          <p:cNvSpPr>
            <a:spLocks noChangeArrowheads="1"/>
          </p:cNvSpPr>
          <p:nvPr/>
        </p:nvSpPr>
        <p:spPr bwMode="auto">
          <a:xfrm>
            <a:off x="742816" y="5450139"/>
            <a:ext cx="755904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通常为陶瓷电容，无极性，容值小，耐压值低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09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04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04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09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04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09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9" grpId="0" animBg="1"/>
      <p:bldP spid="1048659" grpId="1" animBg="1"/>
      <p:bldP spid="1048660" grpId="0"/>
      <p:bldP spid="1048660" grpId="1"/>
      <p:bldP spid="1048661" grpId="0" animBg="1"/>
      <p:bldP spid="1048661" grpId="1" animBg="1"/>
      <p:bldP spid="1048662" grpId="0"/>
      <p:bldP spid="1048662" grpId="1"/>
      <p:bldP spid="1048663" grpId="0" animBg="1"/>
      <p:bldP spid="1048663" grpId="1" animBg="1"/>
      <p:bldP spid="1048664" grpId="0"/>
      <p:bldP spid="104866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66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67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68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69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电容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71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705" y="1233805"/>
            <a:ext cx="4881880" cy="3166745"/>
          </a:xfrm>
          <a:prstGeom prst="rect">
            <a:avLst/>
          </a:prstGeom>
        </p:spPr>
      </p:pic>
      <p:sp>
        <p:nvSpPr>
          <p:cNvPr id="1048670" name="文本框 12"/>
          <p:cNvSpPr txBox="1"/>
          <p:nvPr/>
        </p:nvSpPr>
        <p:spPr>
          <a:xfrm>
            <a:off x="3481705" y="4349750"/>
            <a:ext cx="4881245" cy="19411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在使用时一定要注意电容的极性与耐压值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否则会炸！！！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72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73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74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75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76" name="文本框 4"/>
          <p:cNvSpPr txBox="1"/>
          <p:nvPr/>
        </p:nvSpPr>
        <p:spPr>
          <a:xfrm>
            <a:off x="4162425" y="4004945"/>
            <a:ext cx="3867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电感</a:t>
            </a:r>
            <a:endParaRPr kumimoji="0" lang="zh-CN" altLang="en-US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77" name="文本框 7"/>
          <p:cNvSpPr txBox="1"/>
          <p:nvPr/>
        </p:nvSpPr>
        <p:spPr>
          <a:xfrm>
            <a:off x="2281989" y="4598273"/>
            <a:ext cx="7932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电感器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(Inductor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，通常用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L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表示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  <a:sym typeface="+mn-ea"/>
              </a:rPr>
              <a:t>，其原理是将电能转化成电磁能存储。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1790065"/>
            <a:ext cx="5143500" cy="2032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文本框 1"/>
          <p:cNvSpPr txBox="1"/>
          <p:nvPr/>
        </p:nvSpPr>
        <p:spPr>
          <a:xfrm>
            <a:off x="1124597" y="21099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基本元器件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79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80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81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82" name="文本框 8"/>
          <p:cNvSpPr txBox="1"/>
          <p:nvPr/>
        </p:nvSpPr>
        <p:spPr>
          <a:xfrm>
            <a:off x="1066809" y="105946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电感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17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14" y="1158116"/>
            <a:ext cx="1713230" cy="1584960"/>
          </a:xfrm>
          <a:prstGeom prst="rect">
            <a:avLst/>
          </a:prstGeom>
        </p:spPr>
      </p:pic>
      <p:sp>
        <p:nvSpPr>
          <p:cNvPr id="1048683" name="Text Box 3"/>
          <p:cNvSpPr txBox="1">
            <a:spLocks noChangeArrowheads="1"/>
          </p:cNvSpPr>
          <p:nvPr/>
        </p:nvSpPr>
        <p:spPr bwMode="auto">
          <a:xfrm>
            <a:off x="245578" y="1054611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磁环电感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84" name="Rectangle 4"/>
          <p:cNvSpPr>
            <a:spLocks noChangeArrowheads="1"/>
          </p:cNvSpPr>
          <p:nvPr/>
        </p:nvSpPr>
        <p:spPr bwMode="auto">
          <a:xfrm>
            <a:off x="830731" y="1658814"/>
            <a:ext cx="716438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导线绕在磁环上制成的电感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85" name="Text Box 3"/>
          <p:cNvSpPr txBox="1">
            <a:spLocks noChangeArrowheads="1"/>
          </p:cNvSpPr>
          <p:nvPr/>
        </p:nvSpPr>
        <p:spPr bwMode="auto">
          <a:xfrm>
            <a:off x="245578" y="2831341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功率电感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86" name="Rectangle 4"/>
          <p:cNvSpPr>
            <a:spLocks noChangeArrowheads="1"/>
          </p:cNvSpPr>
          <p:nvPr/>
        </p:nvSpPr>
        <p:spPr bwMode="auto">
          <a:xfrm>
            <a:off x="830731" y="3436179"/>
            <a:ext cx="716438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电功率较大的电感，感值标注在外壳上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87" name="Text Box 3"/>
          <p:cNvSpPr txBox="1">
            <a:spLocks noChangeArrowheads="1"/>
          </p:cNvSpPr>
          <p:nvPr/>
        </p:nvSpPr>
        <p:spPr bwMode="auto">
          <a:xfrm>
            <a:off x="245578" y="4585211"/>
            <a:ext cx="163893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贴片电感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88" name="Rectangle 4"/>
          <p:cNvSpPr>
            <a:spLocks noChangeArrowheads="1"/>
          </p:cNvSpPr>
          <p:nvPr/>
        </p:nvSpPr>
        <p:spPr bwMode="auto">
          <a:xfrm>
            <a:off x="830731" y="5190049"/>
            <a:ext cx="716438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体积小，通常用作滤波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74" name="图片 16"/>
          <p:cNvPicPr>
            <a:picLocks noChangeAspect="1"/>
          </p:cNvPicPr>
          <p:nvPr/>
        </p:nvPicPr>
        <p:blipFill>
          <a:blip r:embed="rId4"/>
          <a:srcRect l="16419" t="20068" r="15524" b="20544"/>
          <a:stretch>
            <a:fillRect/>
          </a:stretch>
        </p:blipFill>
        <p:spPr>
          <a:xfrm>
            <a:off x="8387314" y="4943519"/>
            <a:ext cx="2268855" cy="1108710"/>
          </a:xfrm>
          <a:prstGeom prst="rect">
            <a:avLst/>
          </a:prstGeom>
        </p:spPr>
      </p:pic>
      <p:pic>
        <p:nvPicPr>
          <p:cNvPr id="2097175" name="图片 17"/>
          <p:cNvPicPr>
            <a:picLocks noChangeAspect="1"/>
          </p:cNvPicPr>
          <p:nvPr/>
        </p:nvPicPr>
        <p:blipFill>
          <a:blip r:embed="rId5"/>
          <a:srcRect b="29529"/>
          <a:stretch>
            <a:fillRect/>
          </a:stretch>
        </p:blipFill>
        <p:spPr>
          <a:xfrm>
            <a:off x="8387314" y="3092326"/>
            <a:ext cx="2705100" cy="1188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4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09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04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04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09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04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104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09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3" grpId="0" animBg="1"/>
      <p:bldP spid="1048683" grpId="1" animBg="1"/>
      <p:bldP spid="1048684" grpId="0"/>
      <p:bldP spid="1048684" grpId="1"/>
      <p:bldP spid="1048685" grpId="0" animBg="1"/>
      <p:bldP spid="1048685" grpId="1" animBg="1"/>
      <p:bldP spid="1048686" grpId="0"/>
      <p:bldP spid="1048686" grpId="1"/>
      <p:bldP spid="1048687" grpId="0" animBg="1"/>
      <p:bldP spid="1048687" grpId="1" animBg="1"/>
      <p:bldP spid="1048688" grpId="0"/>
      <p:bldP spid="104868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文本框 1048693"/>
          <p:cNvSpPr txBox="1"/>
          <p:nvPr/>
        </p:nvSpPr>
        <p:spPr>
          <a:xfrm>
            <a:off x="607233" y="2932430"/>
            <a:ext cx="5271497" cy="9931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600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常用电路符号</a:t>
            </a:r>
            <a:endParaRPr lang="zh-CN" sz="2800">
              <a:solidFill>
                <a:srgbClr val="00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96" name="文本框 1048695"/>
          <p:cNvSpPr txBox="1"/>
          <p:nvPr/>
        </p:nvSpPr>
        <p:spPr>
          <a:xfrm>
            <a:off x="1266502" y="209306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800">
                <a:solidFill>
                  <a:srgbClr val="FFFFFF"/>
                </a:solidFill>
              </a:rPr>
              <a:t>常用电路符号</a:t>
            </a:r>
            <a:endParaRPr lang="zh-CN" sz="2800">
              <a:solidFill>
                <a:srgbClr val="FFFFFF"/>
              </a:solidFill>
            </a:endParaRPr>
          </a:p>
        </p:txBody>
      </p:sp>
      <p:sp>
        <p:nvSpPr>
          <p:cNvPr id="1048697" name="文本框 1048696"/>
          <p:cNvSpPr txBox="1"/>
          <p:nvPr/>
        </p:nvSpPr>
        <p:spPr>
          <a:xfrm>
            <a:off x="1066809" y="1198609"/>
            <a:ext cx="10773720" cy="701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1.VCC</a:t>
            </a:r>
            <a:r>
              <a:rPr lang="en-US" altLang="en-US" sz="2000">
                <a:solidFill>
                  <a:srgbClr val="FF0000"/>
                </a:solidFill>
              </a:rPr>
              <a:t>：</a:t>
            </a:r>
            <a:r>
              <a:rPr lang="en-US" altLang="zh-CN" sz="2000">
                <a:solidFill>
                  <a:srgbClr val="FFFFFF"/>
                </a:solidFill>
              </a:rPr>
              <a:t>C=circuit 表示电路的意思， 即</a:t>
            </a:r>
            <a:r>
              <a:rPr lang="en-US" altLang="zh-CN" sz="2000">
                <a:solidFill>
                  <a:srgbClr val="FF0000"/>
                </a:solidFill>
              </a:rPr>
              <a:t>接入电路的电压</a:t>
            </a:r>
            <a:r>
              <a:rPr lang="en-US" altLang="zh-CN" sz="2000">
                <a:solidFill>
                  <a:srgbClr val="FFFFFF"/>
                </a:solidFill>
              </a:rPr>
              <a:t>，能提供电压、电流的容器，如电池，所以也叫</a:t>
            </a:r>
            <a:r>
              <a:rPr lang="en-US" altLang="zh-CN" sz="2000">
                <a:solidFill>
                  <a:srgbClr val="FF0000"/>
                </a:solidFill>
              </a:rPr>
              <a:t>电源</a:t>
            </a:r>
            <a:r>
              <a:rPr lang="en-US" altLang="zh-CN" sz="2000">
                <a:solidFill>
                  <a:srgbClr val="FFFFFF"/>
                </a:solidFill>
              </a:rPr>
              <a:t>。</a:t>
            </a:r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048698" name="文本框 1048697"/>
          <p:cNvSpPr txBox="1"/>
          <p:nvPr/>
        </p:nvSpPr>
        <p:spPr>
          <a:xfrm>
            <a:off x="1087349" y="1879326"/>
            <a:ext cx="10753180" cy="13220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2.VDD</a:t>
            </a:r>
            <a:r>
              <a:rPr lang="en-US" altLang="en-US" sz="2000">
                <a:solidFill>
                  <a:srgbClr val="FF0000"/>
                </a:solidFill>
              </a:rPr>
              <a:t>：</a:t>
            </a:r>
            <a:r>
              <a:rPr lang="en-US" altLang="zh-CN" sz="2000">
                <a:solidFill>
                  <a:srgbClr val="FFFFFF"/>
                </a:solidFill>
              </a:rPr>
              <a:t>D=device 表示器件的意思， 即器件内部的工作电压，对于数字电路来说，VCC是</a:t>
            </a:r>
            <a:r>
              <a:rPr lang="en-US" altLang="zh-CN" sz="2000">
                <a:solidFill>
                  <a:srgbClr val="FF0000"/>
                </a:solidFill>
              </a:rPr>
              <a:t>电路的供电电压</a:t>
            </a:r>
            <a:r>
              <a:rPr lang="en-US" altLang="zh-CN" sz="2000">
                <a:solidFill>
                  <a:srgbClr val="FFFFFF"/>
                </a:solidFill>
              </a:rPr>
              <a:t>,VDD是</a:t>
            </a:r>
            <a:r>
              <a:rPr lang="en-US" altLang="zh-CN" sz="2000">
                <a:solidFill>
                  <a:srgbClr val="FF0000"/>
                </a:solidFill>
              </a:rPr>
              <a:t>芯片的工作电压</a:t>
            </a:r>
            <a:r>
              <a:rPr lang="en-US" altLang="zh-CN" sz="2000">
                <a:solidFill>
                  <a:srgbClr val="FFFFFF"/>
                </a:solidFill>
              </a:rPr>
              <a:t>（通常Vcc＞Vdd）</a:t>
            </a:r>
            <a:r>
              <a:rPr lang="zh-CN" altLang="en-US" sz="2000">
                <a:solidFill>
                  <a:srgbClr val="FFFFFF"/>
                </a:solidFill>
              </a:rPr>
              <a:t>。</a:t>
            </a:r>
            <a:r>
              <a:rPr lang="en-US" altLang="zh-CN" sz="2000">
                <a:solidFill>
                  <a:srgbClr val="FFFFFF"/>
                </a:solidFill>
              </a:rPr>
              <a:t>有些芯片同时有VCC和VDD， 这种器件带有电压转换功能，这个时候Vdd仅仅是给器件内部的数字或模拟系统供电，而Vcc是给包括外设和内部系统供电，所以VCC的电压必须比VDD高。</a:t>
            </a:r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048699" name="文本框 1048698"/>
          <p:cNvSpPr txBox="1"/>
          <p:nvPr/>
        </p:nvSpPr>
        <p:spPr>
          <a:xfrm>
            <a:off x="1066806" y="3189967"/>
            <a:ext cx="10700745" cy="13106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3.GND</a:t>
            </a:r>
            <a:r>
              <a:rPr lang="zh-CN" altLang="en-US" sz="2000">
                <a:solidFill>
                  <a:srgbClr val="FF0000"/>
                </a:solidFill>
              </a:rPr>
              <a:t>：</a:t>
            </a:r>
            <a:r>
              <a:rPr lang="zh-CN" altLang="zh-CN" sz="2000">
                <a:solidFill>
                  <a:srgbClr val="FFFFFF"/>
                </a:solidFill>
              </a:rPr>
              <a:t>电路图上和电路板上的GND（Ground）代表地线或0线.GND就是公共端的意思，也可以说是地，但这个地并</a:t>
            </a:r>
            <a:r>
              <a:rPr lang="zh-CN" altLang="zh-CN" sz="2000">
                <a:solidFill>
                  <a:srgbClr val="FF0000"/>
                </a:solidFill>
              </a:rPr>
              <a:t>不是真正意义上的地</a:t>
            </a:r>
            <a:r>
              <a:rPr lang="zh-CN" altLang="zh-CN" sz="2000">
                <a:solidFill>
                  <a:srgbClr val="FFFFFF"/>
                </a:solidFill>
              </a:rPr>
              <a:t>。是出于应用而假设的一个地，对于电源来说，它就是一个电源的负极。</a:t>
            </a:r>
            <a:r>
              <a:rPr lang="zh-CN" altLang="zh-CN" sz="2000">
                <a:solidFill>
                  <a:srgbClr val="FF0000"/>
                </a:solidFill>
              </a:rPr>
              <a:t>它与大地是不同的</a:t>
            </a:r>
            <a:r>
              <a:rPr lang="zh-CN" altLang="zh-CN" sz="2000">
                <a:solidFill>
                  <a:srgbClr val="FFFFFF"/>
                </a:solidFill>
              </a:rPr>
              <a:t>。有时候需要将它与大地连接，有时候也不需要，视具体情况而定。（</a:t>
            </a:r>
            <a:r>
              <a:rPr lang="zh-CN" altLang="zh-CN" sz="2000">
                <a:solidFill>
                  <a:srgbClr val="FF0000"/>
                </a:solidFill>
              </a:rPr>
              <a:t>零电位参考点</a:t>
            </a:r>
            <a:r>
              <a:rPr lang="zh-CN" altLang="zh-CN" sz="2000">
                <a:solidFill>
                  <a:srgbClr val="FFFFFF"/>
                </a:solidFill>
              </a:rPr>
              <a:t>）</a:t>
            </a:r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048700" name="文本框 1048699"/>
          <p:cNvSpPr txBox="1"/>
          <p:nvPr/>
        </p:nvSpPr>
        <p:spPr>
          <a:xfrm>
            <a:off x="1087349" y="4500607"/>
            <a:ext cx="10815969" cy="3962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4.VEE</a:t>
            </a:r>
            <a:r>
              <a:rPr lang="en-US" altLang="en-US" sz="2000">
                <a:solidFill>
                  <a:srgbClr val="FF0000"/>
                </a:solidFill>
              </a:rPr>
              <a:t>：</a:t>
            </a:r>
            <a:r>
              <a:rPr lang="en-US" altLang="zh-CN" sz="2000">
                <a:solidFill>
                  <a:srgbClr val="FFFFFF"/>
                </a:solidFill>
              </a:rPr>
              <a:t>E=electron 表示构成物质的基本粒子之一，因带负电，也写作e，通常指</a:t>
            </a:r>
            <a:r>
              <a:rPr lang="en-US" altLang="zh-CN" sz="2000">
                <a:solidFill>
                  <a:srgbClr val="FF0000"/>
                </a:solidFill>
              </a:rPr>
              <a:t>负电压供电</a:t>
            </a:r>
            <a:r>
              <a:rPr lang="en-US" altLang="zh-CN" sz="2000">
                <a:solidFill>
                  <a:srgbClr val="FFFFFF"/>
                </a:solidFill>
              </a:rPr>
              <a:t>。</a:t>
            </a:r>
            <a:endParaRPr lang="zh-CN" sz="2800">
              <a:solidFill>
                <a:srgbClr val="000000"/>
              </a:solidFill>
            </a:endParaRPr>
          </a:p>
        </p:txBody>
      </p:sp>
      <p:sp>
        <p:nvSpPr>
          <p:cNvPr id="1048701" name="文本框 1048700"/>
          <p:cNvSpPr txBox="1"/>
          <p:nvPr/>
        </p:nvSpPr>
        <p:spPr>
          <a:xfrm>
            <a:off x="1087348" y="4896847"/>
            <a:ext cx="10579566" cy="13220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5.VSS</a:t>
            </a:r>
            <a:r>
              <a:rPr lang="en-US" altLang="en-US" sz="2000">
                <a:solidFill>
                  <a:srgbClr val="FF0000"/>
                </a:solidFill>
              </a:rPr>
              <a:t>：</a:t>
            </a:r>
            <a:r>
              <a:rPr lang="en-US" altLang="zh-CN" sz="2000">
                <a:solidFill>
                  <a:srgbClr val="FFFFFF"/>
                </a:solidFill>
              </a:rPr>
              <a:t>S=series 表示公共连接的意思，通常指电路</a:t>
            </a:r>
            <a:r>
              <a:rPr lang="en-US" altLang="zh-CN" sz="2000">
                <a:solidFill>
                  <a:srgbClr val="FF0000"/>
                </a:solidFill>
              </a:rPr>
              <a:t>公共接地端电压</a:t>
            </a:r>
            <a:r>
              <a:rPr lang="en-US" altLang="zh-CN" sz="2000">
                <a:solidFill>
                  <a:srgbClr val="FFFFFF"/>
                </a:solidFill>
              </a:rPr>
              <a:t>，VSS也可以指</a:t>
            </a:r>
            <a:r>
              <a:rPr lang="en-US" altLang="zh-CN" sz="2000" b="1" u="sng">
                <a:solidFill>
                  <a:srgbClr val="FFFFFF"/>
                </a:solidFill>
              </a:rPr>
              <a:t>负极电源电压</a:t>
            </a:r>
            <a:r>
              <a:rPr lang="en-US" altLang="zh-CN" sz="2000">
                <a:solidFill>
                  <a:srgbClr val="FFFFFF"/>
                </a:solidFill>
              </a:rPr>
              <a:t>，例如在数字电路和信号处理电路中</a:t>
            </a:r>
            <a:r>
              <a:rPr lang="zh-CN" altLang="en-US" sz="2000">
                <a:solidFill>
                  <a:srgbClr val="FFFFFF"/>
                </a:solidFill>
              </a:rPr>
              <a:t>，</a:t>
            </a:r>
            <a:r>
              <a:rPr lang="en-US" altLang="zh-CN" sz="2000">
                <a:solidFill>
                  <a:srgbClr val="FFFFFF"/>
                </a:solidFill>
                <a:sym typeface="+mn-ea"/>
              </a:rPr>
              <a:t>VSS</a:t>
            </a:r>
            <a:r>
              <a:rPr lang="zh-CN" altLang="en-US" sz="2000">
                <a:solidFill>
                  <a:srgbClr val="FFFFFF"/>
                </a:solidFill>
                <a:sym typeface="+mn-ea"/>
              </a:rPr>
              <a:t>常被作为电路的参考零电位，所有的信号电平、电源电压的测量都以</a:t>
            </a:r>
            <a:r>
              <a:rPr lang="en-US" altLang="zh-CN" sz="2000">
                <a:solidFill>
                  <a:srgbClr val="FFFFFF"/>
                </a:solidFill>
                <a:sym typeface="+mn-ea"/>
              </a:rPr>
              <a:t>VSS</a:t>
            </a:r>
            <a:r>
              <a:rPr lang="zh-CN" altLang="en-US" sz="2000">
                <a:solidFill>
                  <a:srgbClr val="FFFFFF"/>
                </a:solidFill>
                <a:sym typeface="+mn-ea"/>
              </a:rPr>
              <a:t>的电位为基准。</a:t>
            </a:r>
            <a:endParaRPr lang="zh-CN" altLang="en-US" sz="2000">
              <a:solidFill>
                <a:srgbClr val="FFFFFF"/>
              </a:solidFill>
            </a:endParaRPr>
          </a:p>
          <a:p>
            <a:endParaRPr lang="zh-CN" altLang="en-US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文本框 1048701"/>
          <p:cNvSpPr txBox="1"/>
          <p:nvPr/>
        </p:nvSpPr>
        <p:spPr>
          <a:xfrm>
            <a:off x="1254601" y="2932431"/>
            <a:ext cx="2913469" cy="9931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6000">
                <a:solidFill>
                  <a:srgbClr val="FFFFFF"/>
                </a:solidFill>
              </a:rPr>
              <a:t>半导体</a:t>
            </a:r>
            <a:endParaRPr lang="zh-CN" sz="600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文本框 1"/>
          <p:cNvSpPr txBox="1"/>
          <p:nvPr/>
        </p:nvSpPr>
        <p:spPr>
          <a:xfrm>
            <a:off x="1124597" y="210994"/>
            <a:ext cx="1402080" cy="574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半导体</a:t>
            </a:r>
            <a:endParaRPr lang="zh-CN" altLang="en-US"/>
          </a:p>
        </p:txBody>
      </p:sp>
      <p:sp>
        <p:nvSpPr>
          <p:cNvPr id="1048704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05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06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07" name="文本框 11"/>
          <p:cNvSpPr txBox="1"/>
          <p:nvPr/>
        </p:nvSpPr>
        <p:spPr>
          <a:xfrm>
            <a:off x="457204" y="996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chemeClr val="bg1"/>
                </a:solidFill>
                <a:effectLst/>
                <a:latin typeface="-apple-system"/>
              </a:rPr>
              <a:t>什么是半导体？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08" name="文本框 13"/>
          <p:cNvSpPr txBox="1"/>
          <p:nvPr/>
        </p:nvSpPr>
        <p:spPr>
          <a:xfrm>
            <a:off x="381000" y="1440419"/>
            <a:ext cx="1169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“半导体”一词已经与在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20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世纪下半叶迅速改变人类生活的尖端电子技术联系在一起。但是，就其本身而言，半导体并不那么引人注目：它只是一种具有中等</a:t>
            </a:r>
            <a:r>
              <a:rPr lang="zh-CN" altLang="en-US" dirty="0">
                <a:solidFill>
                  <a:schemeClr val="bg1"/>
                </a:solidFill>
                <a:latin typeface="-apple-system"/>
              </a:rPr>
              <a:t>导电性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的材料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-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也就是说，它的导电性比导体小，但比绝缘体大。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09" name="文本框 16"/>
          <p:cNvSpPr txBox="1"/>
          <p:nvPr/>
        </p:nvSpPr>
        <p:spPr>
          <a:xfrm>
            <a:off x="482600" y="2161403"/>
            <a:ext cx="11696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硅</a:t>
            </a:r>
            <a:r>
              <a:rPr lang="zh-CN" altLang="en-US" dirty="0">
                <a:solidFill>
                  <a:schemeClr val="bg1"/>
                </a:solidFill>
                <a:latin typeface="-apple-system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-apple-system"/>
              </a:rPr>
              <a:t>Si</a:t>
            </a:r>
            <a:r>
              <a:rPr lang="zh-CN" altLang="en-US" dirty="0">
                <a:solidFill>
                  <a:schemeClr val="bg1"/>
                </a:solidFill>
                <a:latin typeface="-apple-system"/>
              </a:rPr>
              <a:t>）作为地壳丰度第二的元素，已经成为当今半导体产业的基石，下面让我们一起来重新认识一下。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097178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394" y="2630229"/>
            <a:ext cx="3372696" cy="2787352"/>
          </a:xfrm>
          <a:prstGeom prst="rect">
            <a:avLst/>
          </a:prstGeom>
        </p:spPr>
      </p:pic>
      <p:pic>
        <p:nvPicPr>
          <p:cNvPr id="2097179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03" y="2659407"/>
            <a:ext cx="2657143" cy="2733333"/>
          </a:xfrm>
          <a:prstGeom prst="rect">
            <a:avLst/>
          </a:prstGeom>
        </p:spPr>
      </p:pic>
      <p:sp>
        <p:nvSpPr>
          <p:cNvPr id="1048710" name="文本框 32"/>
          <p:cNvSpPr txBox="1"/>
          <p:nvPr/>
        </p:nvSpPr>
        <p:spPr>
          <a:xfrm>
            <a:off x="799472" y="5392740"/>
            <a:ext cx="2066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</a:rPr>
              <a:t>最外层四个价电子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1048711" name="箭头: 右 33"/>
          <p:cNvSpPr/>
          <p:nvPr/>
        </p:nvSpPr>
        <p:spPr>
          <a:xfrm>
            <a:off x="3104665" y="3747680"/>
            <a:ext cx="801077" cy="55245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成键</a:t>
            </a:r>
            <a:endParaRPr lang="zh-CN" altLang="en-US" dirty="0"/>
          </a:p>
        </p:txBody>
      </p:sp>
      <p:pic>
        <p:nvPicPr>
          <p:cNvPr id="2097180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471" y="2659407"/>
            <a:ext cx="3316442" cy="2758174"/>
          </a:xfrm>
          <a:prstGeom prst="rect">
            <a:avLst/>
          </a:prstGeom>
        </p:spPr>
      </p:pic>
      <p:sp>
        <p:nvSpPr>
          <p:cNvPr id="1048712" name="箭头: 右 36"/>
          <p:cNvSpPr/>
          <p:nvPr/>
        </p:nvSpPr>
        <p:spPr>
          <a:xfrm>
            <a:off x="7341742" y="3737428"/>
            <a:ext cx="801077" cy="55245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激发</a:t>
            </a:r>
            <a:endParaRPr lang="zh-CN" altLang="en-US" dirty="0"/>
          </a:p>
        </p:txBody>
      </p:sp>
      <p:sp>
        <p:nvSpPr>
          <p:cNvPr id="1048713" name="文本框 38"/>
          <p:cNvSpPr txBox="1"/>
          <p:nvPr/>
        </p:nvSpPr>
        <p:spPr>
          <a:xfrm>
            <a:off x="8839200" y="53927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空穴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14" name="文本框 39"/>
          <p:cNvSpPr txBox="1"/>
          <p:nvPr/>
        </p:nvSpPr>
        <p:spPr>
          <a:xfrm>
            <a:off x="10150260" y="541758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电子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15" name="文本框 40"/>
          <p:cNvSpPr txBox="1"/>
          <p:nvPr/>
        </p:nvSpPr>
        <p:spPr>
          <a:xfrm>
            <a:off x="1124597" y="5731294"/>
            <a:ext cx="9892507" cy="624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受到光照、温度等因素的影响，外层电子获得足够能量，脱离原子束缚，成为自由电子</a:t>
            </a:r>
            <a:r>
              <a:rPr lang="en-US" altLang="en-US" dirty="0">
                <a:solidFill>
                  <a:schemeClr val="bg1"/>
                </a:solidFill>
              </a:rPr>
              <a:t>，形成电子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空穴</a:t>
            </a:r>
            <a:r>
              <a:rPr lang="en-US" altLang="en-US" dirty="0">
                <a:solidFill>
                  <a:schemeClr val="bg1"/>
                </a:solidFill>
              </a:rPr>
              <a:t>的现象叫做</a:t>
            </a:r>
            <a:r>
              <a:rPr lang="en-US" altLang="en-US" dirty="0">
                <a:solidFill>
                  <a:srgbClr val="FF0000"/>
                </a:solidFill>
              </a:rPr>
              <a:t>本征激发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48716" name="文本框 44"/>
          <p:cNvSpPr txBox="1"/>
          <p:nvPr/>
        </p:nvSpPr>
        <p:spPr>
          <a:xfrm>
            <a:off x="1124596" y="6356132"/>
            <a:ext cx="7955281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这种由纯硅构成的半导体被称为</a:t>
            </a:r>
            <a:r>
              <a:rPr lang="zh-CN" altLang="en-US" dirty="0">
                <a:solidFill>
                  <a:srgbClr val="FF0000"/>
                </a:solidFill>
              </a:rPr>
              <a:t>本征半导体</a:t>
            </a:r>
            <a:r>
              <a:rPr lang="zh-CN" altLang="en-US" dirty="0">
                <a:solidFill>
                  <a:schemeClr val="bg1"/>
                </a:solidFill>
              </a:rPr>
              <a:t>，导电能力较差，容易受温度影响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09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4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104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209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104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09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104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8" grpId="0"/>
      <p:bldP spid="1048709" grpId="0"/>
      <p:bldP spid="1048713" grpId="0"/>
      <p:bldP spid="1048714" grpId="0"/>
      <p:bldP spid="1048710" grpId="0"/>
      <p:bldP spid="1048710" grpId="1"/>
      <p:bldP spid="1048711" grpId="0" animBg="1"/>
      <p:bldP spid="1048711" grpId="1" animBg="1"/>
      <p:bldP spid="1048712" grpId="0" animBg="1"/>
      <p:bldP spid="1048712" grpId="1" animBg="1"/>
      <p:bldP spid="1048715" grpId="0"/>
      <p:bldP spid="1048715" grpId="1"/>
      <p:bldP spid="1048716" grpId="0"/>
      <p:bldP spid="104871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文本框 1"/>
          <p:cNvSpPr txBox="1"/>
          <p:nvPr/>
        </p:nvSpPr>
        <p:spPr>
          <a:xfrm>
            <a:off x="1124597" y="21099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latin typeface="等线" panose="02010600030101010101" charset="-122"/>
                <a:ea typeface="等线" panose="02010600030101010101" charset="-122"/>
                <a:cs typeface="+mn-cs"/>
              </a:rPr>
              <a:t>半导体</a:t>
            </a:r>
            <a:endParaRPr lang="zh-CN" altLang="en-US"/>
          </a:p>
        </p:txBody>
      </p:sp>
      <p:sp>
        <p:nvSpPr>
          <p:cNvPr id="1048718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19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20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21" name="文本框 2"/>
          <p:cNvSpPr txBox="1"/>
          <p:nvPr/>
        </p:nvSpPr>
        <p:spPr>
          <a:xfrm>
            <a:off x="457204" y="996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-apple-system"/>
              </a:rPr>
              <a:t>解决方案：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22" name="文本框 6"/>
          <p:cNvSpPr txBox="1"/>
          <p:nvPr/>
        </p:nvSpPr>
        <p:spPr>
          <a:xfrm>
            <a:off x="457204" y="1422830"/>
            <a:ext cx="114553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我们可以通过将其他材料注入晶格结构来控制半导体中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载流子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的数量。更具体地说，我们注入具有不同价电子数量的材料。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23" name="文本框 8"/>
          <p:cNvSpPr txBox="1"/>
          <p:nvPr/>
        </p:nvSpPr>
        <p:spPr>
          <a:xfrm>
            <a:off x="396875" y="5434965"/>
            <a:ext cx="1057529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假设我们的半导体是硅（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Si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），它是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IV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组元素，因此具有四个</a:t>
            </a:r>
            <a:r>
              <a:rPr lang="zh-CN" altLang="en-US" dirty="0">
                <a:solidFill>
                  <a:schemeClr val="bg1"/>
                </a:solidFill>
                <a:latin typeface="-apple-system"/>
              </a:rPr>
              <a:t>价电子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。如图所示，硅原子通过共价键结合成规则的晶格结构。诸如磷（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P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）之类的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V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组元素具有五个价电子，如果我们向硅中注入磷，则每个注入的原子都会向半导体的晶格中引入一个自由电子。</a:t>
            </a:r>
            <a:endParaRPr lang="zh-CN" altLang="en-US" b="0" i="0" dirty="0">
              <a:solidFill>
                <a:schemeClr val="bg1"/>
              </a:solidFill>
              <a:effectLst/>
              <a:latin typeface="-apple-system"/>
            </a:endParaRPr>
          </a:p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2097181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45" y="2235709"/>
            <a:ext cx="3244476" cy="2567683"/>
          </a:xfrm>
          <a:prstGeom prst="rect">
            <a:avLst/>
          </a:prstGeom>
        </p:spPr>
      </p:pic>
      <p:sp>
        <p:nvSpPr>
          <p:cNvPr id="1048724" name="文本框 14"/>
          <p:cNvSpPr txBox="1"/>
          <p:nvPr/>
        </p:nvSpPr>
        <p:spPr>
          <a:xfrm>
            <a:off x="2352246" y="47499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电子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25" name="文本框 17"/>
          <p:cNvSpPr txBox="1"/>
          <p:nvPr/>
        </p:nvSpPr>
        <p:spPr>
          <a:xfrm>
            <a:off x="4163921" y="2816644"/>
            <a:ext cx="3864158" cy="169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掺入的五价元素引入了自由电子，在外加电压时，电子成为承载电流的粒子（载流子），而电子带负电（</a:t>
            </a:r>
            <a:r>
              <a:rPr lang="en-US" altLang="zh-CN" dirty="0">
                <a:solidFill>
                  <a:schemeClr val="bg1"/>
                </a:solidFill>
              </a:rPr>
              <a:t>negative charge</a:t>
            </a:r>
            <a:r>
              <a:rPr lang="zh-CN" altLang="en-US" dirty="0">
                <a:solidFill>
                  <a:schemeClr val="bg1"/>
                </a:solidFill>
              </a:rPr>
              <a:t>），所以这种半导体被称为</a:t>
            </a:r>
            <a:r>
              <a:rPr lang="en-US" altLang="zh-CN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型半导体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104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209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04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104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1" grpId="0"/>
      <p:bldP spid="1048722" grpId="0"/>
      <p:bldP spid="1048724" grpId="0"/>
      <p:bldP spid="1048725" grpId="0"/>
      <p:bldP spid="1048724" grpId="1"/>
      <p:bldP spid="1048725" grpId="1"/>
      <p:bldP spid="1048723" grpId="0"/>
      <p:bldP spid="104872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文本框 1"/>
          <p:cNvSpPr txBox="1"/>
          <p:nvPr/>
        </p:nvSpPr>
        <p:spPr>
          <a:xfrm>
            <a:off x="1124597" y="21099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latin typeface="等线" panose="02010600030101010101" charset="-122"/>
                <a:ea typeface="等线" panose="02010600030101010101" charset="-122"/>
                <a:cs typeface="+mn-cs"/>
              </a:rPr>
              <a:t>半导体</a:t>
            </a:r>
            <a:endParaRPr lang="zh-CN" altLang="en-US"/>
          </a:p>
        </p:txBody>
      </p:sp>
      <p:sp>
        <p:nvSpPr>
          <p:cNvPr id="1048727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28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29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30" name="文本框 14"/>
          <p:cNvSpPr txBox="1"/>
          <p:nvPr/>
        </p:nvSpPr>
        <p:spPr>
          <a:xfrm>
            <a:off x="1124597" y="47381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空穴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31" name="文本框 17"/>
          <p:cNvSpPr txBox="1"/>
          <p:nvPr/>
        </p:nvSpPr>
        <p:spPr>
          <a:xfrm>
            <a:off x="3992471" y="2489095"/>
            <a:ext cx="3397593" cy="1691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掺入的三价元素引入了空穴，在外加电压时，空穴成为承载电流的粒子（载流子），而空穴带正电（</a:t>
            </a:r>
            <a:r>
              <a:rPr lang="en-US" altLang="zh-CN" dirty="0">
                <a:solidFill>
                  <a:schemeClr val="bg1"/>
                </a:solidFill>
              </a:rPr>
              <a:t>positive charge</a:t>
            </a:r>
            <a:r>
              <a:rPr lang="zh-CN" altLang="en-US" dirty="0">
                <a:solidFill>
                  <a:schemeClr val="bg1"/>
                </a:solidFill>
              </a:rPr>
              <a:t>），所以这种半导体被称为</a:t>
            </a:r>
            <a:r>
              <a:rPr lang="en-US" altLang="zh-CN" dirty="0">
                <a:solidFill>
                  <a:schemeClr val="bg1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</a:rPr>
              <a:t>型半导体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1048732" name="文本框 7"/>
          <p:cNvSpPr txBox="1"/>
          <p:nvPr/>
        </p:nvSpPr>
        <p:spPr>
          <a:xfrm>
            <a:off x="317500" y="1209586"/>
            <a:ext cx="11131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如果我们用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III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族元素（例如硼（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B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））掺杂，则每个掺杂原子都会引入一个额外的空穴。这将硅变成了</a:t>
            </a:r>
            <a:r>
              <a:rPr lang="en-US" altLang="zh-CN" dirty="0">
                <a:solidFill>
                  <a:schemeClr val="bg1"/>
                </a:solidFill>
                <a:latin typeface="-apple-system"/>
              </a:rPr>
              <a:t>P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型半导体：空穴的数量超过了自由电子的数量，电流的流动将主要归因于正电荷的运动。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09718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4" y="1879771"/>
            <a:ext cx="3397593" cy="2858362"/>
          </a:xfrm>
          <a:prstGeom prst="rect">
            <a:avLst/>
          </a:prstGeom>
        </p:spPr>
      </p:pic>
      <p:sp>
        <p:nvSpPr>
          <p:cNvPr id="1048733" name="文本框 13"/>
          <p:cNvSpPr txBox="1"/>
          <p:nvPr/>
        </p:nvSpPr>
        <p:spPr>
          <a:xfrm>
            <a:off x="314508" y="5244141"/>
            <a:ext cx="1059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掺杂能极大改变半导体的性能，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在适当掺杂后，硅单晶的电阻率将得到显著下降。如在硅单晶中掺入百万分之一的磷，其电阻率将从约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230KΩ·cm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降至约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-apple-system"/>
              </a:rPr>
              <a:t>0.2KΩ·cm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34" name="文本框 17"/>
          <p:cNvSpPr txBox="1"/>
          <p:nvPr/>
        </p:nvSpPr>
        <p:spPr>
          <a:xfrm>
            <a:off x="457204" y="6062231"/>
            <a:ext cx="10162075" cy="38674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0" i="1" dirty="0">
                <a:solidFill>
                  <a:srgbClr val="FF0000"/>
                </a:solidFill>
                <a:effectLst/>
                <a:latin typeface="-apple-system"/>
                <a:ea typeface="宋体" panose="02010600030101010101" pitchFamily="2" charset="-122"/>
              </a:rPr>
              <a:t>注意！！！：无论是</a:t>
            </a:r>
            <a:r>
              <a:rPr lang="en-US" altLang="zh-CN" sz="1800" b="0" i="1" dirty="0">
                <a:solidFill>
                  <a:srgbClr val="FF0000"/>
                </a:solidFill>
                <a:effectLst/>
                <a:latin typeface="-apple-system"/>
              </a:rPr>
              <a:t>P</a:t>
            </a:r>
            <a:r>
              <a:rPr lang="zh-CN" altLang="en-US" sz="1800" b="0" i="1" dirty="0">
                <a:solidFill>
                  <a:srgbClr val="FF0000"/>
                </a:solidFill>
                <a:effectLst/>
                <a:latin typeface="-apple-system"/>
                <a:ea typeface="宋体" panose="02010600030101010101" pitchFamily="2" charset="-122"/>
              </a:rPr>
              <a:t>型还是</a:t>
            </a:r>
            <a:r>
              <a:rPr lang="en-US" altLang="zh-CN" sz="1800" b="0" i="1" dirty="0">
                <a:solidFill>
                  <a:srgbClr val="FF0000"/>
                </a:solidFill>
                <a:effectLst/>
                <a:latin typeface="-apple-system"/>
              </a:rPr>
              <a:t>N</a:t>
            </a:r>
            <a:r>
              <a:rPr lang="zh-CN" altLang="en-US" sz="1800" b="0" i="1" dirty="0">
                <a:solidFill>
                  <a:srgbClr val="FF0000"/>
                </a:solidFill>
                <a:effectLst/>
                <a:latin typeface="-apple-system"/>
                <a:ea typeface="宋体" panose="02010600030101010101" pitchFamily="2" charset="-122"/>
              </a:rPr>
              <a:t>型半导体，总体的仍然还是保持的电中性。掺杂后的半导体内部质子和电子仍然一样多。</a:t>
            </a:r>
            <a:endParaRPr lang="en-US" altLang="zh-CN" sz="1800" b="0" i="1" dirty="0">
              <a:solidFill>
                <a:srgbClr val="FF0000"/>
              </a:solidFill>
              <a:effectLst/>
              <a:latin typeface="-apple-system"/>
            </a:endParaRPr>
          </a:p>
          <a:p>
            <a:endParaRPr lang="zh-CN" altLang="en-US" sz="2400" b="0" i="1" dirty="0">
              <a:solidFill>
                <a:srgbClr val="FF0000"/>
              </a:solidFill>
              <a:effectLst/>
              <a:latin typeface="-apple-syste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09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2000"/>
                                        <p:tgtEl>
                                          <p:spTgt spid="104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04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04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04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2" grpId="0"/>
      <p:bldP spid="1048730" grpId="0"/>
      <p:bldP spid="1048731" grpId="0"/>
      <p:bldP spid="1048730" grpId="1"/>
      <p:bldP spid="1048731" grpId="1"/>
      <p:bldP spid="1048733" grpId="0"/>
      <p:bldP spid="1048733" grpId="1"/>
      <p:bldP spid="1048734" grpId="0"/>
      <p:bldP spid="104873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文本框 1048734"/>
          <p:cNvSpPr txBox="1"/>
          <p:nvPr/>
        </p:nvSpPr>
        <p:spPr>
          <a:xfrm>
            <a:off x="951588" y="2932430"/>
            <a:ext cx="2067663" cy="9931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PN</a:t>
            </a:r>
            <a:r>
              <a:rPr lang="en-US" altLang="en-US" sz="6000">
                <a:solidFill>
                  <a:srgbClr val="FFFFFF"/>
                </a:solidFill>
              </a:rPr>
              <a:t>结</a:t>
            </a:r>
            <a:endParaRPr lang="zh-CN" sz="2800">
              <a:solidFill>
                <a:srgbClr val="000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文本框 1"/>
          <p:cNvSpPr txBox="1"/>
          <p:nvPr/>
        </p:nvSpPr>
        <p:spPr>
          <a:xfrm>
            <a:off x="1124597" y="210994"/>
            <a:ext cx="1148079" cy="574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latin typeface="等线" panose="02010600030101010101" charset="-122"/>
                <a:ea typeface="等线" panose="02010600030101010101" charset="-122"/>
                <a:cs typeface="+mn-cs"/>
              </a:rPr>
              <a:t>PN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latin typeface="等线" panose="02010600030101010101" charset="-122"/>
                <a:ea typeface="等线" panose="02010600030101010101" charset="-122"/>
                <a:cs typeface="+mn-cs"/>
              </a:rPr>
              <a:t>结</a:t>
            </a:r>
            <a:endParaRPr lang="zh-CN" altLang="en-US"/>
          </a:p>
        </p:txBody>
      </p:sp>
      <p:sp>
        <p:nvSpPr>
          <p:cNvPr id="1048737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38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39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40" name="文本框 2"/>
          <p:cNvSpPr txBox="1"/>
          <p:nvPr/>
        </p:nvSpPr>
        <p:spPr>
          <a:xfrm>
            <a:off x="457204" y="1060450"/>
            <a:ext cx="62153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当</a:t>
            </a:r>
            <a:r>
              <a:rPr lang="en-US" altLang="zh-CN" dirty="0">
                <a:solidFill>
                  <a:schemeClr val="bg1"/>
                </a:solidFill>
              </a:rPr>
              <a:t>P</a:t>
            </a:r>
            <a:r>
              <a:rPr lang="zh-CN" altLang="en-US" dirty="0">
                <a:solidFill>
                  <a:schemeClr val="bg1"/>
                </a:solidFill>
              </a:rPr>
              <a:t>型半导体和</a:t>
            </a:r>
            <a:r>
              <a:rPr lang="en-US" altLang="zh-CN" dirty="0">
                <a:solidFill>
                  <a:schemeClr val="bg1"/>
                </a:solidFill>
              </a:rPr>
              <a:t>N</a:t>
            </a:r>
            <a:r>
              <a:rPr lang="zh-CN" altLang="en-US" dirty="0">
                <a:solidFill>
                  <a:schemeClr val="bg1"/>
                </a:solidFill>
              </a:rPr>
              <a:t>型半导体接触到一起时，神奇的事情发生了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41" name="文本框 15"/>
          <p:cNvSpPr txBox="1"/>
          <p:nvPr/>
        </p:nvSpPr>
        <p:spPr>
          <a:xfrm>
            <a:off x="83" y="1916403"/>
            <a:ext cx="2997200" cy="3025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在交接处的电子和空穴的浓度相差较大，所以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区中的自由电子会向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P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区扩散，同时，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P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区中的空穴也会向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区扩散。（扩散是因为浓度差）于是，就在交接面两侧形成一个不能移动的，正，负离子形成的空间电荷区，也就是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PN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结。由于空间电荷区缺少可以自由运动的载流子，所以又称为耗尽区。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42" name="文本框 18"/>
          <p:cNvSpPr txBox="1"/>
          <p:nvPr/>
        </p:nvSpPr>
        <p:spPr>
          <a:xfrm>
            <a:off x="9257147" y="1916403"/>
            <a:ext cx="2910005" cy="3825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由于多数载流子的扩散运动，电子和空穴因复合而消失。空间电荷区只剩下不能参加导电的正，负离子，破坏了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P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区和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区的电中性，所以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P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区带负电，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区带正电，两者之间产生了电位差，称为电位壁垒。电场方向为：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——&gt;P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区，也被称为内电场。内电场的作用是阻止多数载流子继续扩散，利于少数载流子的运动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(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漂移运动），内电场也被称为阻挡层。</a:t>
            </a:r>
            <a:endParaRPr lang="zh-CN" altLang="en-US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pic>
        <p:nvPicPr>
          <p:cNvPr id="2097183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48" y="1916403"/>
            <a:ext cx="6147904" cy="3904033"/>
          </a:xfrm>
          <a:prstGeom prst="rect">
            <a:avLst/>
          </a:prstGeom>
        </p:spPr>
      </p:pic>
      <p:sp>
        <p:nvSpPr>
          <p:cNvPr id="1048743" name="文本框 23"/>
          <p:cNvSpPr txBox="1"/>
          <p:nvPr/>
        </p:nvSpPr>
        <p:spPr>
          <a:xfrm>
            <a:off x="527050" y="1418437"/>
            <a:ext cx="1059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在</a:t>
            </a:r>
            <a:r>
              <a:rPr lang="en-US" altLang="zh-CN" i="0" dirty="0">
                <a:solidFill>
                  <a:schemeClr val="bg1"/>
                </a:solidFill>
                <a:effectLst/>
                <a:latin typeface="-apple-system"/>
              </a:rPr>
              <a:t>PN</a:t>
            </a:r>
            <a:r>
              <a:rPr lang="zh-CN" altLang="en-US" i="0" dirty="0">
                <a:solidFill>
                  <a:schemeClr val="bg1"/>
                </a:solidFill>
                <a:effectLst/>
                <a:latin typeface="-apple-system"/>
              </a:rPr>
              <a:t>结中，扩散是因为浓度差（多子向少子运动），漂移是指的载流子在电场作用下的定向运动。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44" name="文本框 4"/>
          <p:cNvSpPr txBox="1"/>
          <p:nvPr/>
        </p:nvSpPr>
        <p:spPr>
          <a:xfrm>
            <a:off x="3111126" y="6259312"/>
            <a:ext cx="6400800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33350"/>
            <a:r>
              <a:rPr lang="en-US" altLang="zh-CN" sz="2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PN</a:t>
            </a:r>
            <a:r>
              <a:rPr lang="zh-CN" altLang="en-US" sz="2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结的内电场方向由</a:t>
            </a:r>
            <a:r>
              <a:rPr lang="en-US" altLang="zh-CN" sz="2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N</a:t>
            </a:r>
            <a:r>
              <a:rPr lang="zh-CN" altLang="en-US" sz="2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区指向</a:t>
            </a:r>
            <a:r>
              <a:rPr lang="en-US" altLang="zh-CN" sz="2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P</a:t>
            </a:r>
            <a:r>
              <a:rPr lang="zh-CN" altLang="en-US" sz="2400" b="1" i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区！！！</a:t>
            </a:r>
            <a:endParaRPr lang="zh-CN" altLang="en-US" sz="2400" b="1" i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104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104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0487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09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04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104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40" grpId="0"/>
      <p:bldP spid="1048741" grpId="0"/>
      <p:bldP spid="1048741" grpId="1"/>
      <p:bldP spid="1048743" grpId="0"/>
      <p:bldP spid="1048743" grpId="1"/>
      <p:bldP spid="1048742" grpId="0"/>
      <p:bldP spid="1048742" grpId="1"/>
      <p:bldP spid="1048744" grpId="0"/>
      <p:bldP spid="104874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46" name="文本框 1048745"/>
          <p:cNvSpPr txBox="1"/>
          <p:nvPr/>
        </p:nvSpPr>
        <p:spPr>
          <a:xfrm>
            <a:off x="1066809" y="209307"/>
            <a:ext cx="4000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PN</a:t>
            </a:r>
            <a:r>
              <a:rPr lang="en-US" altLang="en-US" sz="2800">
                <a:solidFill>
                  <a:srgbClr val="FFFFFF"/>
                </a:solidFill>
              </a:rPr>
              <a:t>结</a:t>
            </a:r>
            <a:endParaRPr lang="zh-CN" sz="2800">
              <a:solidFill>
                <a:srgbClr val="FFFFFF"/>
              </a:solidFill>
            </a:endParaRPr>
          </a:p>
        </p:txBody>
      </p:sp>
      <p:pic>
        <p:nvPicPr>
          <p:cNvPr id="2097184" name="图片占位符 4" descr="34"/>
          <p:cNvPicPr/>
          <p:nvPr/>
        </p:nvPicPr>
        <p:blipFill>
          <a:blip r:embed="rId1"/>
          <a:stretch>
            <a:fillRect/>
          </a:stretch>
        </p:blipFill>
        <p:spPr>
          <a:xfrm>
            <a:off x="6212658" y="921780"/>
            <a:ext cx="4513521" cy="2766563"/>
          </a:xfrm>
          <a:prstGeom prst="rect">
            <a:avLst/>
          </a:prstGeom>
        </p:spPr>
      </p:pic>
      <p:sp>
        <p:nvSpPr>
          <p:cNvPr id="1048747" name="文本框 2"/>
          <p:cNvSpPr txBox="1"/>
          <p:nvPr/>
        </p:nvSpPr>
        <p:spPr>
          <a:xfrm>
            <a:off x="6786351" y="4447135"/>
            <a:ext cx="3366135" cy="1767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P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型半导体一端电压大于</a:t>
            </a:r>
            <a:r>
              <a:rPr lang="en-US" altLang="zh-CN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型半导体一端为正偏，反之则为反偏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sp>
        <p:nvSpPr>
          <p:cNvPr id="1048748" name="文本框 5"/>
          <p:cNvSpPr txBox="1"/>
          <p:nvPr/>
        </p:nvSpPr>
        <p:spPr>
          <a:xfrm>
            <a:off x="762005" y="921780"/>
            <a:ext cx="5125780" cy="1958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如果将PN结加正向电压（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正偏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），看作向</a:t>
            </a:r>
            <a:r>
              <a:rPr lang="en-US" altLang="zh-CN" dirty="0">
                <a:solidFill>
                  <a:srgbClr val="FFFFFF"/>
                </a:solidFill>
                <a:latin typeface="Arial" panose="020B0604020202020204"/>
              </a:rPr>
              <a:t>N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区源源不断输入电子，向</a:t>
            </a:r>
            <a:r>
              <a:rPr lang="en-US" altLang="zh-CN" dirty="0">
                <a:solidFill>
                  <a:srgbClr val="FFFFFF"/>
                </a:solidFill>
                <a:latin typeface="Arial" panose="020B0604020202020204"/>
              </a:rPr>
              <a:t>P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区输入空穴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由于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外加电压的电场方向和PN结内电场方向相反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。在外电场的作用下，内电场将会被削弱，内电场被削弱的同时，</a:t>
            </a:r>
            <a:r>
              <a:rPr lang="zh-CN" altLang="en-US" u="sng" dirty="0">
                <a:solidFill>
                  <a:srgbClr val="FFFFFF"/>
                </a:solidFill>
                <a:ea typeface="宋体" panose="02010600030101010101" pitchFamily="2" charset="-122"/>
              </a:rPr>
              <a:t>原来载流子扩散运动与漂移运动的平衡被破坏，漂移运动被削弱而使扩散运动占优势，形成较大的扩散电流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。</a:t>
            </a:r>
            <a:endParaRPr lang="zh-CN" altLang="en-US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1048749" name="文本框 1"/>
          <p:cNvSpPr txBox="1"/>
          <p:nvPr/>
        </p:nvSpPr>
        <p:spPr>
          <a:xfrm>
            <a:off x="775094" y="2880120"/>
            <a:ext cx="5211575" cy="195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如果将PN结加反向电压（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反偏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），反向电压增强了内电场的作用，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  <a:sym typeface="+mn-ea"/>
              </a:rPr>
              <a:t>则</a:t>
            </a:r>
            <a:r>
              <a:rPr lang="zh-CN" altLang="en-US" u="sng" dirty="0">
                <a:solidFill>
                  <a:srgbClr val="FFFFFF"/>
                </a:solidFill>
                <a:ea typeface="宋体" panose="02010600030101010101" pitchFamily="2" charset="-122"/>
                <a:sym typeface="+mn-ea"/>
              </a:rPr>
              <a:t>空穴和电子都向远离界面的方向运动，使</a:t>
            </a:r>
            <a:r>
              <a:rPr lang="zh-CN" altLang="en-US" u="sng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空间电荷区变宽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  <a:sym typeface="+mn-ea"/>
              </a:rPr>
              <a:t>，内电场对多子扩散运动的阻碍增强，扩散电流大大减小。此时PN结区的少子在内电场作用下形成的漂移电流大于扩散电流，</a:t>
            </a:r>
            <a:r>
              <a:rPr lang="zh-CN" altLang="en-US" u="sng" dirty="0">
                <a:solidFill>
                  <a:srgbClr val="FFFFFF"/>
                </a:solidFill>
                <a:ea typeface="宋体" panose="02010600030101010101" pitchFamily="2" charset="-122"/>
                <a:sym typeface="+mn-ea"/>
              </a:rPr>
              <a:t>由于少子数目极少，忽略扩散电流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  <a:sym typeface="+mn-ea"/>
              </a:rPr>
              <a:t>，PN结呈现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高阻性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48750" name="文本框 3"/>
          <p:cNvSpPr txBox="1"/>
          <p:nvPr/>
        </p:nvSpPr>
        <p:spPr>
          <a:xfrm>
            <a:off x="775094" y="4838459"/>
            <a:ext cx="2991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因此，</a:t>
            </a:r>
            <a:r>
              <a:rPr lang="en-US" altLang="zh-CN" dirty="0">
                <a:solidFill>
                  <a:srgbClr val="FFFFFF"/>
                </a:solidFill>
                <a:latin typeface="Arial" panose="020B0604020202020204"/>
              </a:rPr>
              <a:t>PN</a:t>
            </a:r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结具有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单向导电性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048751" name="文本框 1048750"/>
          <p:cNvSpPr txBox="1"/>
          <p:nvPr/>
        </p:nvSpPr>
        <p:spPr>
          <a:xfrm>
            <a:off x="846459" y="5505595"/>
            <a:ext cx="4440699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800">
                <a:solidFill>
                  <a:srgbClr val="FF0000"/>
                </a:solidFill>
              </a:rPr>
              <a:t>分清漂移运动与扩散运动</a:t>
            </a:r>
            <a:endParaRPr 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4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47" grpId="0"/>
      <p:bldP spid="1048747" grpId="1"/>
      <p:bldP spid="1048751" grpId="0"/>
      <p:bldP spid="104875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标题 3"/>
          <p:cNvSpPr>
            <a:spLocks noGrp="1"/>
          </p:cNvSpPr>
          <p:nvPr>
            <p:ph type="title"/>
          </p:nvPr>
        </p:nvSpPr>
        <p:spPr>
          <a:xfrm>
            <a:off x="1080503" y="2641369"/>
            <a:ext cx="5015497" cy="985086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二极管</a:t>
            </a:r>
            <a:endParaRPr lang="en-US" altLang="zh-CN" sz="60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文本框 1"/>
          <p:cNvSpPr txBox="1"/>
          <p:nvPr/>
        </p:nvSpPr>
        <p:spPr>
          <a:xfrm>
            <a:off x="1124597" y="21099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二极管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54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55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56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09718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963" y="1366282"/>
            <a:ext cx="3764887" cy="3086294"/>
          </a:xfrm>
          <a:prstGeom prst="rect">
            <a:avLst/>
          </a:prstGeom>
        </p:spPr>
      </p:pic>
      <p:sp>
        <p:nvSpPr>
          <p:cNvPr id="1048757" name="文本框 9"/>
          <p:cNvSpPr txBox="1"/>
          <p:nvPr/>
        </p:nvSpPr>
        <p:spPr>
          <a:xfrm>
            <a:off x="457204" y="996950"/>
            <a:ext cx="45262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将这个结构封装起来就是一个半导体二极管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758" name="Rectangle 2"/>
          <p:cNvSpPr>
            <a:spLocks noChangeArrowheads="1"/>
          </p:cNvSpPr>
          <p:nvPr/>
        </p:nvSpPr>
        <p:spPr bwMode="auto">
          <a:xfrm>
            <a:off x="1914184" y="1536229"/>
            <a:ext cx="3868614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/>
              <a:t> 半导体二极管的结构</a:t>
            </a:r>
            <a:endParaRPr lang="zh-CN" altLang="en-US" sz="2800" b="1" dirty="0"/>
          </a:p>
        </p:txBody>
      </p:sp>
      <p:sp>
        <p:nvSpPr>
          <p:cNvPr id="1048759" name="Rectangle 3"/>
          <p:cNvSpPr>
            <a:spLocks noChangeArrowheads="1"/>
          </p:cNvSpPr>
          <p:nvPr/>
        </p:nvSpPr>
        <p:spPr bwMode="auto">
          <a:xfrm>
            <a:off x="289072" y="3145124"/>
            <a:ext cx="1055688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  <a:latin typeface="楷体_GB2312" pitchFamily="49" charset="-122"/>
              </a:rPr>
              <a:t>构成：</a:t>
            </a:r>
            <a:endParaRPr lang="zh-CN" altLang="en-US" sz="2800" b="1" dirty="0">
              <a:solidFill>
                <a:srgbClr val="FF0066"/>
              </a:solidFill>
              <a:latin typeface="楷体_GB2312" pitchFamily="49" charset="-122"/>
            </a:endParaRPr>
          </a:p>
        </p:txBody>
      </p:sp>
      <p:sp>
        <p:nvSpPr>
          <p:cNvPr id="1048760" name="Rectangle 4"/>
          <p:cNvSpPr>
            <a:spLocks noChangeArrowheads="1"/>
          </p:cNvSpPr>
          <p:nvPr/>
        </p:nvSpPr>
        <p:spPr bwMode="auto">
          <a:xfrm>
            <a:off x="1682116" y="3144830"/>
            <a:ext cx="4866966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0033CC"/>
                </a:solidFill>
              </a:rPr>
              <a:t>PN </a:t>
            </a:r>
            <a:r>
              <a:rPr lang="zh-CN" altLang="en-US" sz="2800" b="1" dirty="0">
                <a:solidFill>
                  <a:srgbClr val="0033CC"/>
                </a:solidFill>
              </a:rPr>
              <a:t>结 </a:t>
            </a:r>
            <a:r>
              <a:rPr lang="en-US" altLang="zh-CN" sz="2800" b="1" dirty="0">
                <a:solidFill>
                  <a:srgbClr val="0033CC"/>
                </a:solidFill>
              </a:rPr>
              <a:t>+ </a:t>
            </a:r>
            <a:r>
              <a:rPr lang="zh-CN" altLang="en-US" sz="2800" b="1" dirty="0">
                <a:solidFill>
                  <a:srgbClr val="0033CC"/>
                </a:solidFill>
              </a:rPr>
              <a:t>引线 </a:t>
            </a:r>
            <a:r>
              <a:rPr lang="en-US" altLang="zh-CN" sz="2800" b="1" dirty="0">
                <a:solidFill>
                  <a:srgbClr val="0033CC"/>
                </a:solidFill>
              </a:rPr>
              <a:t>+ </a:t>
            </a:r>
            <a:r>
              <a:rPr lang="zh-CN" altLang="en-US" sz="2800" b="1" dirty="0">
                <a:solidFill>
                  <a:srgbClr val="0033CC"/>
                </a:solidFill>
              </a:rPr>
              <a:t>管壳 </a:t>
            </a:r>
            <a:r>
              <a:rPr lang="en-US" altLang="zh-CN" sz="2800" b="1" dirty="0">
                <a:solidFill>
                  <a:srgbClr val="0033CC"/>
                </a:solidFill>
              </a:rPr>
              <a:t>=  </a:t>
            </a:r>
            <a:r>
              <a:rPr lang="zh-CN" altLang="en-US" sz="2800" b="1" dirty="0">
                <a:solidFill>
                  <a:srgbClr val="0033CC"/>
                </a:solidFill>
              </a:rPr>
              <a:t>二极管</a:t>
            </a:r>
            <a:endParaRPr lang="en-US" altLang="zh-CN" sz="28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1048761" name="Rectangle 5"/>
          <p:cNvSpPr>
            <a:spLocks noChangeArrowheads="1"/>
          </p:cNvSpPr>
          <p:nvPr/>
        </p:nvSpPr>
        <p:spPr bwMode="auto">
          <a:xfrm>
            <a:off x="288925" y="3729030"/>
            <a:ext cx="1056640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  <a:latin typeface="楷体_GB2312" pitchFamily="49" charset="-122"/>
              </a:rPr>
              <a:t>符号：</a:t>
            </a:r>
            <a:endParaRPr lang="zh-CN" altLang="en-US" sz="2800" b="1" dirty="0">
              <a:solidFill>
                <a:srgbClr val="FF0066"/>
              </a:solidFill>
              <a:latin typeface="楷体_GB2312" pitchFamily="49" charset="-122"/>
            </a:endParaRPr>
          </a:p>
        </p:txBody>
      </p:sp>
      <p:grpSp>
        <p:nvGrpSpPr>
          <p:cNvPr id="73" name="Group 6"/>
          <p:cNvGrpSpPr/>
          <p:nvPr/>
        </p:nvGrpSpPr>
        <p:grpSpPr bwMode="auto">
          <a:xfrm>
            <a:off x="2943372" y="3772186"/>
            <a:ext cx="1219200" cy="381000"/>
            <a:chOff x="2688" y="1152"/>
            <a:chExt cx="1008" cy="288"/>
          </a:xfrm>
        </p:grpSpPr>
        <p:sp>
          <p:nvSpPr>
            <p:cNvPr id="1048762" name="Line 7"/>
            <p:cNvSpPr>
              <a:spLocks noChangeShapeType="1"/>
            </p:cNvSpPr>
            <p:nvPr/>
          </p:nvSpPr>
          <p:spPr bwMode="auto">
            <a:xfrm>
              <a:off x="2688" y="1296"/>
              <a:ext cx="1008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763" name="Line 8"/>
            <p:cNvSpPr>
              <a:spLocks noChangeShapeType="1"/>
            </p:cNvSpPr>
            <p:nvPr/>
          </p:nvSpPr>
          <p:spPr bwMode="auto">
            <a:xfrm>
              <a:off x="3024" y="1152"/>
              <a:ext cx="0" cy="28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764" name="Line 9"/>
            <p:cNvSpPr>
              <a:spLocks noChangeShapeType="1"/>
            </p:cNvSpPr>
            <p:nvPr/>
          </p:nvSpPr>
          <p:spPr bwMode="auto">
            <a:xfrm>
              <a:off x="3024" y="1152"/>
              <a:ext cx="240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765" name="Line 10"/>
            <p:cNvSpPr>
              <a:spLocks noChangeShapeType="1"/>
            </p:cNvSpPr>
            <p:nvPr/>
          </p:nvSpPr>
          <p:spPr bwMode="auto">
            <a:xfrm flipV="1">
              <a:off x="3024" y="1296"/>
              <a:ext cx="240" cy="14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8766" name="Line 11"/>
            <p:cNvSpPr>
              <a:spLocks noChangeShapeType="1"/>
            </p:cNvSpPr>
            <p:nvPr/>
          </p:nvSpPr>
          <p:spPr bwMode="auto">
            <a:xfrm>
              <a:off x="3264" y="1152"/>
              <a:ext cx="0" cy="288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48767" name="Text Box 12"/>
          <p:cNvSpPr txBox="1">
            <a:spLocks noChangeArrowheads="1"/>
          </p:cNvSpPr>
          <p:nvPr/>
        </p:nvSpPr>
        <p:spPr bwMode="auto">
          <a:xfrm>
            <a:off x="1681946" y="3703606"/>
            <a:ext cx="966787" cy="5219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</a:rPr>
              <a:t>正极</a:t>
            </a:r>
            <a:endParaRPr lang="zh-CN" altLang="en-US" sz="2800" b="1" dirty="0">
              <a:solidFill>
                <a:srgbClr val="FF0066"/>
              </a:solidFill>
            </a:endParaRPr>
          </a:p>
        </p:txBody>
      </p:sp>
      <p:sp>
        <p:nvSpPr>
          <p:cNvPr id="1048768" name="Text Box 13"/>
          <p:cNvSpPr txBox="1">
            <a:spLocks noChangeArrowheads="1"/>
          </p:cNvSpPr>
          <p:nvPr/>
        </p:nvSpPr>
        <p:spPr bwMode="auto">
          <a:xfrm>
            <a:off x="4432131" y="3703289"/>
            <a:ext cx="1019175" cy="51911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rgbClr val="FF0066"/>
                </a:solidFill>
              </a:rPr>
              <a:t>负极</a:t>
            </a:r>
            <a:endParaRPr lang="zh-CN" altLang="en-US" sz="2800" b="1" dirty="0">
              <a:solidFill>
                <a:srgbClr val="FF0066"/>
              </a:solidFill>
            </a:endParaRPr>
          </a:p>
        </p:txBody>
      </p:sp>
      <p:sp>
        <p:nvSpPr>
          <p:cNvPr id="1048769" name="文本框 1048768"/>
          <p:cNvSpPr txBox="1"/>
          <p:nvPr/>
        </p:nvSpPr>
        <p:spPr>
          <a:xfrm>
            <a:off x="1699500" y="5163958"/>
            <a:ext cx="4548899" cy="4470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400">
                <a:solidFill>
                  <a:srgbClr val="FF0000"/>
                </a:solidFill>
              </a:rPr>
              <a:t>二极管如何实现单向导通的呢？</a:t>
            </a:r>
            <a:endParaRPr 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9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2000"/>
                                        <p:tgtEl>
                                          <p:spTgt spid="104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57" grpId="0"/>
      <p:bldP spid="1048758" grpId="0" animBg="1"/>
      <p:bldP spid="1048759" grpId="0" animBg="1"/>
      <p:bldP spid="1048760" grpId="0" animBg="1"/>
      <p:bldP spid="1048761" grpId="0" animBg="1"/>
      <p:bldP spid="1048767" grpId="0" animBg="1"/>
      <p:bldP spid="1048768" grpId="0" animBg="1"/>
      <p:bldP spid="1048769" grpId="0"/>
      <p:bldP spid="104876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771" name="文本框 1048770"/>
          <p:cNvSpPr txBox="1"/>
          <p:nvPr/>
        </p:nvSpPr>
        <p:spPr>
          <a:xfrm>
            <a:off x="1185974" y="209306"/>
            <a:ext cx="1250203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800">
                <a:solidFill>
                  <a:srgbClr val="FFFFFF"/>
                </a:solidFill>
              </a:rPr>
              <a:t>二极管</a:t>
            </a:r>
            <a:endParaRPr lang="zh-CN" sz="2800">
              <a:solidFill>
                <a:srgbClr val="FFFFFF"/>
              </a:solidFill>
            </a:endParaRPr>
          </a:p>
        </p:txBody>
      </p:sp>
      <p:pic>
        <p:nvPicPr>
          <p:cNvPr id="2097186" name="图片 2097185"/>
          <p:cNvPicPr/>
          <p:nvPr/>
        </p:nvPicPr>
        <p:blipFill>
          <a:blip r:embed="rId1"/>
          <a:stretch>
            <a:fillRect/>
          </a:stretch>
        </p:blipFill>
        <p:spPr>
          <a:xfrm>
            <a:off x="5222021" y="1343583"/>
            <a:ext cx="6186590" cy="4170833"/>
          </a:xfrm>
          <a:prstGeom prst="rect">
            <a:avLst/>
          </a:prstGeom>
        </p:spPr>
      </p:pic>
      <p:sp>
        <p:nvSpPr>
          <p:cNvPr id="1048772" name="文本框 5"/>
          <p:cNvSpPr txBox="1"/>
          <p:nvPr/>
        </p:nvSpPr>
        <p:spPr>
          <a:xfrm>
            <a:off x="457203" y="1606268"/>
            <a:ext cx="4489983" cy="18198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FFFF"/>
                </a:solidFill>
                <a:ea typeface="宋体" panose="02010600030101010101" pitchFamily="2" charset="-122"/>
              </a:rPr>
              <a:t>只有当正向电压达到某一数值（这一数值称为“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门槛电压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导通</a:t>
            </a:r>
            <a:r>
              <a:rPr lang="en-US" altLang="en-US" dirty="0">
                <a:solidFill>
                  <a:srgbClr val="FF0000"/>
                </a:solidFill>
                <a:ea typeface="宋体" panose="02010600030101010101" pitchFamily="2" charset="-122"/>
              </a:rPr>
              <a:t>电压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”，锗管约为0.2V，硅管约为0.</a:t>
            </a:r>
            <a:r>
              <a:rPr lang="en-US" altLang="zh-CN" dirty="0">
                <a:solidFill>
                  <a:srgbClr val="FFFFFF"/>
                </a:solidFill>
                <a:latin typeface="Arial" panose="020B0604020202020204"/>
              </a:rPr>
              <a:t>7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V）以后，二极管才能真正导通。导通后二极管两端的电压基本上保持不变（锗管约为0.</a:t>
            </a:r>
            <a:r>
              <a:rPr lang="en-US" altLang="zh-CN" dirty="0">
                <a:solidFill>
                  <a:srgbClr val="FFFFFF"/>
                </a:solidFill>
                <a:latin typeface="Arial" panose="020B0604020202020204"/>
              </a:rPr>
              <a:t>2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V，硅管约为0.7V），称为二极管的“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导通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压降</a:t>
            </a:r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”。</a:t>
            </a:r>
            <a:endParaRPr lang="en-US" altLang="zh-CN" dirty="0">
              <a:solidFill>
                <a:srgbClr val="FFFFFF"/>
              </a:solidFill>
            </a:endParaRPr>
          </a:p>
          <a:p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48773" name="文本框 1048772"/>
          <p:cNvSpPr txBox="1"/>
          <p:nvPr/>
        </p:nvSpPr>
        <p:spPr>
          <a:xfrm>
            <a:off x="457203" y="3429000"/>
            <a:ext cx="441491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1800" b="1">
                <a:solidFill>
                  <a:srgbClr val="FFFFFF"/>
                </a:solidFill>
                <a:latin typeface="汉仪中等线简" panose="02010600000101010101" charset="-128"/>
                <a:ea typeface="汉仪中等线简" panose="02010600000101010101" charset="-128"/>
                <a:cs typeface="华文宋体" panose="02010600040101010101" charset="-122"/>
              </a:rPr>
              <a:t>不同的二极管电气特性不同，应用场景也不同，根据其特性的不同，可以将二极管分出许多不同的类别。</a:t>
            </a:r>
            <a:endParaRPr lang="zh-CN" sz="2800" b="1">
              <a:solidFill>
                <a:srgbClr val="000000"/>
              </a:solidFill>
              <a:latin typeface="汉仪中等线简" panose="02010600000101010101" charset="-128"/>
              <a:ea typeface="汉仪中等线简" panose="0201060000010101010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3" grpId="0"/>
      <p:bldP spid="104877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文本框 1"/>
          <p:cNvSpPr txBox="1"/>
          <p:nvPr/>
        </p:nvSpPr>
        <p:spPr>
          <a:xfrm>
            <a:off x="1124597" y="21099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二极管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00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601" name="任意多边形: 形状 20"/>
          <p:cNvSpPr/>
          <p:nvPr>
            <p:custDataLst>
              <p:tags r:id="rId1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02" name="任意多边形: 形状 20"/>
          <p:cNvSpPr/>
          <p:nvPr>
            <p:custDataLst>
              <p:tags r:id="rId2"/>
            </p:custDataLst>
          </p:nvPr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03" name="Text Box 3"/>
          <p:cNvSpPr txBox="1">
            <a:spLocks noChangeArrowheads="1"/>
          </p:cNvSpPr>
          <p:nvPr/>
        </p:nvSpPr>
        <p:spPr bwMode="auto">
          <a:xfrm>
            <a:off x="172720" y="985520"/>
            <a:ext cx="2411730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发光二极管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48604" name="Rectangle 4"/>
          <p:cNvSpPr>
            <a:spLocks noChangeArrowheads="1"/>
          </p:cNvSpPr>
          <p:nvPr/>
        </p:nvSpPr>
        <p:spPr bwMode="auto">
          <a:xfrm>
            <a:off x="757873" y="1589723"/>
            <a:ext cx="554132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dirty="0">
                <a:solidFill>
                  <a:schemeClr val="bg2"/>
                </a:solidFill>
              </a:rPr>
              <a:t>能发光的二极管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48605" name="Text Box 3"/>
          <p:cNvSpPr txBox="1">
            <a:spLocks noChangeArrowheads="1"/>
          </p:cNvSpPr>
          <p:nvPr/>
        </p:nvSpPr>
        <p:spPr bwMode="auto">
          <a:xfrm>
            <a:off x="172720" y="2762250"/>
            <a:ext cx="241109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肖特基二极管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48606" name="Rectangle 4"/>
          <p:cNvSpPr>
            <a:spLocks noChangeArrowheads="1"/>
          </p:cNvSpPr>
          <p:nvPr/>
        </p:nvSpPr>
        <p:spPr bwMode="auto">
          <a:xfrm>
            <a:off x="757873" y="3348038"/>
            <a:ext cx="5541327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dirty="0">
                <a:solidFill>
                  <a:schemeClr val="bg2"/>
                </a:solidFill>
              </a:rPr>
              <a:t>低功耗、超高速半导体器件</a:t>
            </a:r>
            <a:endParaRPr lang="zh-CN" altLang="en-US" dirty="0">
              <a:solidFill>
                <a:schemeClr val="bg2"/>
              </a:solidFill>
            </a:endParaRPr>
          </a:p>
        </p:txBody>
      </p:sp>
      <p:sp>
        <p:nvSpPr>
          <p:cNvPr id="1048607" name="Text Box 3"/>
          <p:cNvSpPr txBox="1">
            <a:spLocks noChangeArrowheads="1"/>
          </p:cNvSpPr>
          <p:nvPr/>
        </p:nvSpPr>
        <p:spPr bwMode="auto">
          <a:xfrm>
            <a:off x="172720" y="4488815"/>
            <a:ext cx="2411095" cy="5219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稳压二极管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048608" name="Rectangle 4"/>
          <p:cNvSpPr>
            <a:spLocks noChangeArrowheads="1"/>
          </p:cNvSpPr>
          <p:nvPr/>
        </p:nvSpPr>
        <p:spPr bwMode="auto">
          <a:xfrm>
            <a:off x="757873" y="5101908"/>
            <a:ext cx="554132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buFontTx/>
              <a:buNone/>
            </a:pPr>
            <a:r>
              <a:rPr lang="zh-CN" altLang="en-US" sz="2800" dirty="0">
                <a:solidFill>
                  <a:schemeClr val="bg2"/>
                </a:solidFill>
              </a:rPr>
              <a:t>反向击穿，电压基本不变</a:t>
            </a:r>
            <a:endParaRPr lang="zh-CN" altLang="en-US" sz="2800" dirty="0">
              <a:solidFill>
                <a:schemeClr val="bg2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7435215" y="2762250"/>
            <a:ext cx="2344420" cy="132778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7434580" y="878205"/>
            <a:ext cx="2345690" cy="158496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7434580" y="4488815"/>
            <a:ext cx="2344420" cy="1534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10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04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104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04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3" grpId="0" animBg="1"/>
      <p:bldP spid="1048604" grpId="0"/>
      <p:bldP spid="1048603" grpId="1" animBg="1"/>
      <p:bldP spid="1048604" grpId="1"/>
      <p:bldP spid="1048605" grpId="0" animBg="1"/>
      <p:bldP spid="1048606" grpId="0"/>
      <p:bldP spid="1048605" grpId="1" animBg="1"/>
      <p:bldP spid="1048606" grpId="1"/>
      <p:bldP spid="1048607" grpId="0" animBg="1"/>
      <p:bldP spid="1048608" grpId="0"/>
      <p:bldP spid="1048607" grpId="1" animBg="1"/>
      <p:bldP spid="104860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文本框 1048586"/>
          <p:cNvSpPr txBox="1"/>
          <p:nvPr/>
        </p:nvSpPr>
        <p:spPr>
          <a:xfrm>
            <a:off x="1261993" y="2932430"/>
            <a:ext cx="4000000" cy="9931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6000">
                <a:solidFill>
                  <a:srgbClr val="FFFFFF"/>
                </a:solidFill>
              </a:rPr>
              <a:t>三极管</a:t>
            </a:r>
            <a:endParaRPr lang="zh-CN" sz="600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585" name="文本框 1048584"/>
          <p:cNvSpPr txBox="1"/>
          <p:nvPr/>
        </p:nvSpPr>
        <p:spPr>
          <a:xfrm>
            <a:off x="1066808" y="209306"/>
            <a:ext cx="2015381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800">
                <a:solidFill>
                  <a:srgbClr val="FFFFFF"/>
                </a:solidFill>
              </a:rPr>
              <a:t>三极管</a:t>
            </a:r>
            <a:endParaRPr lang="zh-CN" sz="2800">
              <a:solidFill>
                <a:srgbClr val="000000"/>
              </a:solidFill>
            </a:endParaRPr>
          </a:p>
        </p:txBody>
      </p:sp>
      <p:pic>
        <p:nvPicPr>
          <p:cNvPr id="2097152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856910" y="1307145"/>
            <a:ext cx="3827378" cy="2121854"/>
          </a:xfrm>
          <a:prstGeom prst="rect">
            <a:avLst/>
          </a:prstGeom>
        </p:spPr>
      </p:pic>
      <p:pic>
        <p:nvPicPr>
          <p:cNvPr id="2097153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856910" y="3762765"/>
            <a:ext cx="3886537" cy="2051461"/>
          </a:xfrm>
          <a:prstGeom prst="rect">
            <a:avLst/>
          </a:prstGeom>
        </p:spPr>
      </p:pic>
      <p:sp>
        <p:nvSpPr>
          <p:cNvPr id="1048586" name="文本框 1048585"/>
          <p:cNvSpPr txBox="1"/>
          <p:nvPr/>
        </p:nvSpPr>
        <p:spPr>
          <a:xfrm>
            <a:off x="762005" y="1433352"/>
            <a:ext cx="5713346" cy="18694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400">
                <a:solidFill>
                  <a:srgbClr val="FFFFFF"/>
                </a:solidFill>
              </a:rPr>
              <a:t>三极管（</a:t>
            </a:r>
            <a:r>
              <a:rPr lang="en-US" altLang="zh-CN" sz="2400">
                <a:solidFill>
                  <a:srgbClr val="FFFFFF"/>
                </a:solidFill>
              </a:rPr>
              <a:t>BJT</a:t>
            </a:r>
            <a:r>
              <a:rPr lang="zh-CN" altLang="zh-CN" sz="2400">
                <a:solidFill>
                  <a:srgbClr val="FFFFFF"/>
                </a:solidFill>
              </a:rPr>
              <a:t>），是一种</a:t>
            </a:r>
            <a:r>
              <a:rPr lang="zh-CN" altLang="zh-CN" sz="2400">
                <a:solidFill>
                  <a:srgbClr val="FF0000"/>
                </a:solidFill>
              </a:rPr>
              <a:t>电流控制型</a:t>
            </a:r>
            <a:r>
              <a:rPr lang="zh-CN" altLang="zh-CN" sz="2400">
                <a:solidFill>
                  <a:srgbClr val="FFFFFF"/>
                </a:solidFill>
              </a:rPr>
              <a:t>半导体器件，能够把微弱信号放大成幅度值较大的电信号（具有</a:t>
            </a:r>
            <a:r>
              <a:rPr lang="zh-CN" altLang="zh-CN" sz="2400">
                <a:solidFill>
                  <a:srgbClr val="FF0000"/>
                </a:solidFill>
              </a:rPr>
              <a:t>电流放大</a:t>
            </a:r>
            <a:r>
              <a:rPr lang="zh-CN" altLang="zh-CN" sz="2400">
                <a:solidFill>
                  <a:srgbClr val="FFFFFF"/>
                </a:solidFill>
              </a:rPr>
              <a:t>的作用）。三极管是半导体最基本的元件之一，也是电子电路的核心元件。</a:t>
            </a:r>
            <a:endParaRPr lang="zh-CN" sz="2400">
              <a:solidFill>
                <a:srgbClr val="000000"/>
              </a:solidFill>
            </a:endParaRPr>
          </a:p>
        </p:txBody>
      </p:sp>
      <p:sp>
        <p:nvSpPr>
          <p:cNvPr id="1048878" name="文本框 1048877"/>
          <p:cNvSpPr txBox="1"/>
          <p:nvPr/>
        </p:nvSpPr>
        <p:spPr>
          <a:xfrm>
            <a:off x="762006" y="3762765"/>
            <a:ext cx="5490970" cy="1869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400">
                <a:solidFill>
                  <a:srgbClr val="FFFFFF"/>
                </a:solidFill>
              </a:rPr>
              <a:t>三极管是在一块半导体基片上制作两个相距很近的PN结，</a:t>
            </a:r>
            <a:r>
              <a:rPr lang="zh-CN" altLang="zh-CN" sz="2400">
                <a:solidFill>
                  <a:srgbClr val="FF0000"/>
                </a:solidFill>
              </a:rPr>
              <a:t>两个PN</a:t>
            </a:r>
            <a:r>
              <a:rPr lang="zh-CN" altLang="zh-CN" sz="2400">
                <a:solidFill>
                  <a:srgbClr val="FFFFFF"/>
                </a:solidFill>
              </a:rPr>
              <a:t>结把整块半导体分成三部分，</a:t>
            </a:r>
            <a:r>
              <a:rPr lang="zh-CN" altLang="zh-CN" sz="2400">
                <a:solidFill>
                  <a:srgbClr val="FF0000"/>
                </a:solidFill>
              </a:rPr>
              <a:t>中间部分是基区，两侧部分是发射区和集电区</a:t>
            </a:r>
            <a:r>
              <a:rPr lang="zh-CN" altLang="zh-CN" sz="2400">
                <a:solidFill>
                  <a:srgbClr val="FFFFFF"/>
                </a:solidFill>
              </a:rPr>
              <a:t>，排列方式有</a:t>
            </a:r>
            <a:r>
              <a:rPr lang="zh-CN" altLang="zh-CN" sz="2400" b="1" i="1" u="sng">
                <a:solidFill>
                  <a:srgbClr val="FFFFFF"/>
                </a:solidFill>
              </a:rPr>
              <a:t>NPN</a:t>
            </a:r>
            <a:r>
              <a:rPr lang="zh-CN" altLang="zh-CN" sz="2400">
                <a:solidFill>
                  <a:srgbClr val="FFFFFF"/>
                </a:solidFill>
              </a:rPr>
              <a:t>和</a:t>
            </a:r>
            <a:r>
              <a:rPr lang="zh-CN" altLang="zh-CN" sz="2400" b="1" i="1" u="sng">
                <a:solidFill>
                  <a:srgbClr val="FFFFFF"/>
                </a:solidFill>
              </a:rPr>
              <a:t>PNP</a:t>
            </a:r>
            <a:r>
              <a:rPr lang="zh-CN" altLang="zh-CN" sz="2400">
                <a:solidFill>
                  <a:srgbClr val="FFFFFF"/>
                </a:solidFill>
              </a:rPr>
              <a:t>两种</a:t>
            </a:r>
            <a:endParaRPr lang="zh-CN"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884" name="文本框 1048883"/>
          <p:cNvSpPr txBox="1"/>
          <p:nvPr/>
        </p:nvSpPr>
        <p:spPr>
          <a:xfrm>
            <a:off x="1066808" y="209306"/>
            <a:ext cx="2015381" cy="5105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800">
                <a:solidFill>
                  <a:srgbClr val="FFFFFF"/>
                </a:solidFill>
                <a:ea typeface="等线" panose="02010600030101010101" charset="-122"/>
              </a:rPr>
              <a:t>三极管</a:t>
            </a:r>
            <a:endParaRPr lang="zh-CN" sz="2800">
              <a:solidFill>
                <a:srgbClr val="000000"/>
              </a:solidFill>
            </a:endParaRPr>
          </a:p>
        </p:txBody>
      </p:sp>
      <p:pic>
        <p:nvPicPr>
          <p:cNvPr id="2097187" name="图片 7" descr="20181115083525_1072"/>
          <p:cNvPicPr/>
          <p:nvPr/>
        </p:nvPicPr>
        <p:blipFill>
          <a:blip r:embed="rId1"/>
          <a:stretch>
            <a:fillRect/>
          </a:stretch>
        </p:blipFill>
        <p:spPr>
          <a:xfrm>
            <a:off x="8292491" y="917298"/>
            <a:ext cx="3741759" cy="3005569"/>
          </a:xfrm>
          <a:prstGeom prst="rect">
            <a:avLst/>
          </a:prstGeom>
        </p:spPr>
      </p:pic>
      <p:pic>
        <p:nvPicPr>
          <p:cNvPr id="2097188" name="图片 1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6" y="921781"/>
            <a:ext cx="3540448" cy="2996602"/>
          </a:xfrm>
          <a:prstGeom prst="rect">
            <a:avLst/>
          </a:prstGeom>
        </p:spPr>
      </p:pic>
      <p:pic>
        <p:nvPicPr>
          <p:cNvPr id="2097189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4651804" y="921780"/>
            <a:ext cx="3291334" cy="3008453"/>
          </a:xfrm>
          <a:prstGeom prst="rect">
            <a:avLst/>
          </a:prstGeom>
        </p:spPr>
      </p:pic>
      <p:sp>
        <p:nvSpPr>
          <p:cNvPr id="1048885" name="文本框 1048884"/>
          <p:cNvSpPr txBox="1"/>
          <p:nvPr/>
        </p:nvSpPr>
        <p:spPr>
          <a:xfrm>
            <a:off x="762005" y="4132167"/>
            <a:ext cx="11092366" cy="13220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sz="2000">
                <a:solidFill>
                  <a:srgbClr val="FFFFFF"/>
                </a:solidFill>
              </a:rPr>
              <a:t>基极和发射极之间添加一个电压使发射结正偏，集电结反偏</a:t>
            </a:r>
            <a:r>
              <a:rPr lang="zh-CN" altLang="zh-CN" sz="2000">
                <a:solidFill>
                  <a:srgbClr val="FFFFFF"/>
                </a:solidFill>
              </a:rPr>
              <a:t>。自由电子在发射极为多子，发射极正偏，扩散运动增强，大量自由电子进入基极，然而基区掺杂浓度很低且基区很薄，基区短时间内吸收不了这么多电子，只有一少部分电子与空穴复合形成基极电流，而集</a:t>
            </a:r>
            <a:r>
              <a:rPr lang="zh-CN" altLang="zh-CN" sz="2000">
                <a:solidFill>
                  <a:srgbClr val="FFFFFF"/>
                </a:solidFill>
              </a:rPr>
              <a:t>电极反偏，大部分电子被吸引到了集电区，形成集电极电流。</a:t>
            </a:r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048886" name="文本框 1048885"/>
          <p:cNvSpPr txBox="1"/>
          <p:nvPr/>
        </p:nvSpPr>
        <p:spPr>
          <a:xfrm>
            <a:off x="762006" y="5442806"/>
            <a:ext cx="10188664" cy="8153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FFFFFF"/>
                </a:solidFill>
              </a:rPr>
              <a:t>基极电流越大，流到基区的自由电子越多，涌向集电极的自由电子，形成更大的集电极电流（三极管小电流控制大电流的原理）。</a:t>
            </a:r>
            <a:endParaRPr lang="zh-CN" sz="2800">
              <a:solidFill>
                <a:srgbClr val="000000"/>
              </a:solidFill>
            </a:endParaRPr>
          </a:p>
        </p:txBody>
      </p:sp>
      <p:sp>
        <p:nvSpPr>
          <p:cNvPr id="1048887" name="文本框 1048886"/>
          <p:cNvSpPr txBox="1"/>
          <p:nvPr/>
        </p:nvSpPr>
        <p:spPr>
          <a:xfrm>
            <a:off x="4022187" y="6258146"/>
            <a:ext cx="4572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sz="2800">
                <a:solidFill>
                  <a:srgbClr val="FF0000"/>
                </a:solidFill>
              </a:rPr>
              <a:t>根据以上可知IE = IC + IB</a:t>
            </a:r>
            <a:endParaRPr 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891" name="文本框 1048890"/>
          <p:cNvSpPr txBox="1"/>
          <p:nvPr/>
        </p:nvSpPr>
        <p:spPr>
          <a:xfrm>
            <a:off x="1066808" y="209306"/>
            <a:ext cx="2015381" cy="510540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800">
                <a:solidFill>
                  <a:srgbClr val="FFFFFF"/>
                </a:solidFill>
                <a:ea typeface="等线" panose="02010600030101010101" charset="-122"/>
              </a:rPr>
              <a:t>三极管</a:t>
            </a:r>
            <a:endParaRPr lang="zh-CN" sz="2800">
              <a:solidFill>
                <a:srgbClr val="000000"/>
              </a:solidFill>
            </a:endParaRPr>
          </a:p>
        </p:txBody>
      </p:sp>
      <p:pic>
        <p:nvPicPr>
          <p:cNvPr id="2097190" name="图片 13" descr="20181115083554_1904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437005"/>
            <a:ext cx="3923030" cy="4031615"/>
          </a:xfrm>
          <a:prstGeom prst="rect">
            <a:avLst/>
          </a:prstGeom>
        </p:spPr>
      </p:pic>
      <p:pic>
        <p:nvPicPr>
          <p:cNvPr id="2097191" name="图片 14" descr="20181115083603_9311"/>
          <p:cNvPicPr/>
          <p:nvPr/>
        </p:nvPicPr>
        <p:blipFill>
          <a:blip r:embed="rId2"/>
          <a:stretch>
            <a:fillRect/>
          </a:stretch>
        </p:blipFill>
        <p:spPr>
          <a:xfrm>
            <a:off x="4570095" y="1437005"/>
            <a:ext cx="3670935" cy="4031615"/>
          </a:xfrm>
          <a:prstGeom prst="rect">
            <a:avLst/>
          </a:prstGeom>
        </p:spPr>
      </p:pic>
      <p:pic>
        <p:nvPicPr>
          <p:cNvPr id="2097192" name="图片 12" descr="timg (12)"/>
          <p:cNvPicPr/>
          <p:nvPr/>
        </p:nvPicPr>
        <p:blipFill>
          <a:blip r:embed="rId3"/>
          <a:stretch>
            <a:fillRect/>
          </a:stretch>
        </p:blipFill>
        <p:spPr>
          <a:xfrm>
            <a:off x="8543290" y="1427480"/>
            <a:ext cx="3462655" cy="40405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891" name="文本框 1048890"/>
          <p:cNvSpPr txBox="1"/>
          <p:nvPr/>
        </p:nvSpPr>
        <p:spPr>
          <a:xfrm>
            <a:off x="1066809" y="141411"/>
            <a:ext cx="2615506" cy="646331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rgbClr val="FFFFFF"/>
                </a:solidFill>
                <a:ea typeface="等线" panose="02010600030101010101" charset="-122"/>
              </a:rPr>
              <a:t>焊台的使用</a:t>
            </a:r>
            <a:endParaRPr lang="zh-CN" sz="3600" dirty="0">
              <a:solidFill>
                <a:srgbClr val="000000"/>
              </a:solidFill>
            </a:endParaRPr>
          </a:p>
        </p:txBody>
      </p:sp>
      <p:pic>
        <p:nvPicPr>
          <p:cNvPr id="2" name="图片 1" descr="焊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4" y="1123831"/>
            <a:ext cx="3117277" cy="3117277"/>
          </a:xfrm>
          <a:prstGeom prst="rect">
            <a:avLst/>
          </a:prstGeom>
        </p:spPr>
      </p:pic>
      <p:pic>
        <p:nvPicPr>
          <p:cNvPr id="3" name="图片 2" descr="timg (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35" y="1123949"/>
            <a:ext cx="3117040" cy="3117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755" y="1123713"/>
            <a:ext cx="3044990" cy="311990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574481" y="4924166"/>
            <a:ext cx="5418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焊台使用完毕一定要记得关闭焊台右边的开关！！！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891" name="文本框 1048890"/>
          <p:cNvSpPr txBox="1"/>
          <p:nvPr/>
        </p:nvSpPr>
        <p:spPr>
          <a:xfrm>
            <a:off x="1066809" y="141411"/>
            <a:ext cx="2615506" cy="646331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rgbClr val="FFFFFF"/>
                </a:solidFill>
                <a:ea typeface="等线" panose="02010600030101010101" charset="-122"/>
              </a:rPr>
              <a:t>焊接技巧</a:t>
            </a:r>
            <a:endParaRPr lang="zh-CN" sz="3600" dirty="0">
              <a:solidFill>
                <a:srgbClr val="000000"/>
              </a:solidFill>
            </a:endParaRPr>
          </a:p>
        </p:txBody>
      </p:sp>
      <p:pic>
        <p:nvPicPr>
          <p:cNvPr id="6" name="图片 5" descr="电烙铁的焊接方法-漫画教程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1779"/>
            <a:ext cx="3784812" cy="3133184"/>
          </a:xfrm>
          <a:prstGeom prst="rect">
            <a:avLst/>
          </a:prstGeom>
        </p:spPr>
      </p:pic>
      <p:pic>
        <p:nvPicPr>
          <p:cNvPr id="7" name="图片 6" descr="电烙铁的焊接方法-漫画教程-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463" y="921776"/>
            <a:ext cx="4070048" cy="3133187"/>
          </a:xfrm>
          <a:prstGeom prst="rect">
            <a:avLst/>
          </a:prstGeom>
        </p:spPr>
      </p:pic>
      <p:pic>
        <p:nvPicPr>
          <p:cNvPr id="8" name="图片 7" descr="电烙铁的焊接方法-漫画教程-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511" y="921775"/>
            <a:ext cx="4271837" cy="31331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1" y="4116747"/>
            <a:ext cx="12126697" cy="108434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60270" y="5322610"/>
            <a:ext cx="1033488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FF00"/>
                </a:solidFill>
              </a:rPr>
              <a:t>焊笔温度</a:t>
            </a:r>
            <a:r>
              <a:rPr lang="en-US" altLang="zh-CN" sz="2000" dirty="0">
                <a:solidFill>
                  <a:srgbClr val="FFFF00"/>
                </a:solidFill>
              </a:rPr>
              <a:t>350</a:t>
            </a:r>
            <a:r>
              <a:rPr lang="zh-CN" altLang="en-US" sz="2000" dirty="0">
                <a:solidFill>
                  <a:srgbClr val="FFFF00"/>
                </a:solidFill>
              </a:rPr>
              <a:t>度最佳，低于此温度易坨锡，高于此温度容易刮落焊盘，对电路板造成损伤。</a:t>
            </a:r>
            <a:endParaRPr lang="zh-CN" altLang="en-US" sz="2000" dirty="0">
              <a:solidFill>
                <a:srgbClr val="FFFF00"/>
              </a:solidFill>
            </a:endParaRPr>
          </a:p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60270" y="5865741"/>
            <a:ext cx="967444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先升温，再上焊锡，焊接完毕先移走锡丝再移走焊笔。（焊笔可对于焊点进行修饰）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焊笔尖如有残留焊锡可在焊笔架下面的海绵处进行清理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891" name="文本框 1048890"/>
          <p:cNvSpPr txBox="1"/>
          <p:nvPr/>
        </p:nvSpPr>
        <p:spPr>
          <a:xfrm>
            <a:off x="1066808" y="141411"/>
            <a:ext cx="4777937" cy="707886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>
                <a:solidFill>
                  <a:srgbClr val="FFFFFF"/>
                </a:solidFill>
                <a:ea typeface="等线" panose="02010600030101010101" charset="-122"/>
              </a:rPr>
              <a:t>如何正确使用海绵？</a:t>
            </a:r>
            <a:endParaRPr lang="zh-CN" sz="4000" dirty="0">
              <a:solidFill>
                <a:srgbClr val="000000"/>
              </a:solidFill>
            </a:endParaRPr>
          </a:p>
        </p:txBody>
      </p:sp>
      <p:pic>
        <p:nvPicPr>
          <p:cNvPr id="6" name="图片 5" descr="75EB1AFD6E16671CCFB577B16463F0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572" y="908049"/>
            <a:ext cx="5428347" cy="4071723"/>
          </a:xfrm>
          <a:prstGeom prst="rect">
            <a:avLst/>
          </a:prstGeom>
        </p:spPr>
      </p:pic>
      <p:pic>
        <p:nvPicPr>
          <p:cNvPr id="7" name="图片 6" descr="6E0E29DDF42685035C3168F912DB148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286" y="908049"/>
            <a:ext cx="5589366" cy="407172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51970" y="5208372"/>
            <a:ext cx="24929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rgbClr val="00B0F0"/>
                </a:solidFill>
              </a:rPr>
              <a:t>正确！</a:t>
            </a:r>
            <a:endParaRPr lang="zh-CN" altLang="en-US" sz="6000" dirty="0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50812" y="5208373"/>
            <a:ext cx="2496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</a:rPr>
              <a:t>错误！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44202" y="216535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solidFill>
                  <a:schemeClr val="accent1"/>
                </a:solidFill>
                <a:latin typeface="华光行楷_CNKI" panose="02000500000000000000" pitchFamily="2" charset="-122"/>
                <a:ea typeface="华光行楷_CNKI" panose="02000500000000000000" pitchFamily="2" charset="-122"/>
              </a:rPr>
              <a:t>第一次培训作业题</a:t>
            </a:r>
            <a:endParaRPr lang="zh-CN" altLang="en-US" sz="3600" dirty="0">
              <a:solidFill>
                <a:schemeClr val="accent1"/>
              </a:solidFill>
              <a:latin typeface="华光行楷_CNKI" panose="02000500000000000000" pitchFamily="2" charset="-122"/>
              <a:ea typeface="华光行楷_CNKI" panose="02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24680" y="2905423"/>
            <a:ext cx="46863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</a:rPr>
              <a:t>该电路的工作原理为：当开关</a:t>
            </a:r>
            <a:r>
              <a:rPr lang="en-US" altLang="zh-CN" dirty="0">
                <a:solidFill>
                  <a:schemeClr val="bg1"/>
                </a:solidFill>
              </a:rPr>
              <a:t>SW7</a:t>
            </a:r>
            <a:r>
              <a:rPr lang="zh-CN" altLang="en-US" dirty="0">
                <a:solidFill>
                  <a:schemeClr val="bg1"/>
                </a:solidFill>
              </a:rPr>
              <a:t>闭合时，+5</a:t>
            </a:r>
            <a:r>
              <a:rPr lang="en-US" altLang="zh-CN" dirty="0">
                <a:solidFill>
                  <a:schemeClr val="bg1"/>
                </a:solidFill>
              </a:rPr>
              <a:t>V</a:t>
            </a:r>
            <a:r>
              <a:rPr lang="zh-CN" altLang="en-US" dirty="0">
                <a:solidFill>
                  <a:schemeClr val="bg1"/>
                </a:solidFill>
              </a:rPr>
              <a:t>电源给电容</a:t>
            </a:r>
            <a:r>
              <a:rPr lang="en-US" altLang="zh-CN" dirty="0">
                <a:solidFill>
                  <a:schemeClr val="bg1"/>
                </a:solidFill>
              </a:rPr>
              <a:t>E1</a:t>
            </a:r>
            <a:r>
              <a:rPr lang="zh-CN" altLang="en-US" dirty="0">
                <a:solidFill>
                  <a:schemeClr val="bg1"/>
                </a:solidFill>
              </a:rPr>
              <a:t>充电，同时通过</a:t>
            </a:r>
            <a:r>
              <a:rPr lang="en-US" altLang="zh-CN" dirty="0">
                <a:solidFill>
                  <a:schemeClr val="bg1"/>
                </a:solidFill>
              </a:rPr>
              <a:t>R11</a:t>
            </a:r>
            <a:r>
              <a:rPr lang="zh-CN" altLang="en-US" dirty="0">
                <a:solidFill>
                  <a:schemeClr val="bg1"/>
                </a:solidFill>
              </a:rPr>
              <a:t>向三极管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的基极提供电流，使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导通。此时电流从+5</a:t>
            </a:r>
            <a:r>
              <a:rPr lang="en-US" altLang="zh-CN" dirty="0">
                <a:solidFill>
                  <a:schemeClr val="bg1"/>
                </a:solidFill>
              </a:rPr>
              <a:t>V</a:t>
            </a:r>
            <a:r>
              <a:rPr lang="zh-CN" altLang="en-US" dirty="0">
                <a:solidFill>
                  <a:schemeClr val="bg1"/>
                </a:solidFill>
              </a:rPr>
              <a:t>经过</a:t>
            </a:r>
            <a:r>
              <a:rPr lang="en-US" altLang="zh-CN" dirty="0">
                <a:solidFill>
                  <a:schemeClr val="bg1"/>
                </a:solidFill>
              </a:rPr>
              <a:t>R10</a:t>
            </a:r>
            <a:r>
              <a:rPr lang="zh-CN" altLang="en-US" dirty="0">
                <a:solidFill>
                  <a:schemeClr val="bg1"/>
                </a:solidFill>
              </a:rPr>
              <a:t>和红色</a:t>
            </a:r>
            <a:r>
              <a:rPr lang="en-US" altLang="zh-CN" dirty="0">
                <a:solidFill>
                  <a:schemeClr val="bg1"/>
                </a:solidFill>
              </a:rPr>
              <a:t>LED3，</a:t>
            </a:r>
            <a:r>
              <a:rPr lang="zh-CN" altLang="en-US" dirty="0">
                <a:solidFill>
                  <a:schemeClr val="bg1"/>
                </a:solidFill>
              </a:rPr>
              <a:t>再流入</a:t>
            </a:r>
            <a:r>
              <a:rPr lang="en-US" altLang="zh-CN" dirty="0">
                <a:solidFill>
                  <a:schemeClr val="bg1"/>
                </a:solidFill>
              </a:rPr>
              <a:t>Q1，LED3</a:t>
            </a:r>
            <a:r>
              <a:rPr lang="zh-CN" altLang="en-US" dirty="0">
                <a:solidFill>
                  <a:schemeClr val="bg1"/>
                </a:solidFill>
              </a:rPr>
              <a:t>被点亮。当开关</a:t>
            </a:r>
            <a:r>
              <a:rPr lang="en-US" altLang="zh-CN" dirty="0">
                <a:solidFill>
                  <a:schemeClr val="bg1"/>
                </a:solidFill>
              </a:rPr>
              <a:t>SW7</a:t>
            </a:r>
            <a:r>
              <a:rPr lang="zh-CN" altLang="en-US" dirty="0">
                <a:solidFill>
                  <a:schemeClr val="bg1"/>
                </a:solidFill>
              </a:rPr>
              <a:t>断开后，电容</a:t>
            </a:r>
            <a:r>
              <a:rPr lang="en-US" altLang="zh-CN" dirty="0">
                <a:solidFill>
                  <a:schemeClr val="bg1"/>
                </a:solidFill>
              </a:rPr>
              <a:t>E1</a:t>
            </a:r>
            <a:r>
              <a:rPr lang="zh-CN" altLang="en-US" dirty="0">
                <a:solidFill>
                  <a:schemeClr val="bg1"/>
                </a:solidFill>
              </a:rPr>
              <a:t>开始通过</a:t>
            </a:r>
            <a:r>
              <a:rPr lang="en-US" altLang="zh-CN" dirty="0">
                <a:solidFill>
                  <a:schemeClr val="bg1"/>
                </a:solidFill>
              </a:rPr>
              <a:t>R11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的基极放电，在短时间内仍能维持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导通，使</a:t>
            </a:r>
            <a:r>
              <a:rPr lang="en-US" altLang="zh-CN" dirty="0">
                <a:solidFill>
                  <a:schemeClr val="bg1"/>
                </a:solidFill>
              </a:rPr>
              <a:t>LED3</a:t>
            </a:r>
            <a:r>
              <a:rPr lang="zh-CN" altLang="en-US" dirty="0">
                <a:solidFill>
                  <a:schemeClr val="bg1"/>
                </a:solidFill>
              </a:rPr>
              <a:t>继续发光。随着电容电压逐渐降低，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基极电流减小，三极管截止，</a:t>
            </a:r>
            <a:r>
              <a:rPr lang="en-US" altLang="zh-CN" dirty="0">
                <a:solidFill>
                  <a:schemeClr val="bg1"/>
                </a:solidFill>
              </a:rPr>
              <a:t>LED3</a:t>
            </a:r>
            <a:r>
              <a:rPr lang="zh-CN" altLang="en-US" dirty="0">
                <a:solidFill>
                  <a:schemeClr val="bg1"/>
                </a:solidFill>
              </a:rPr>
              <a:t>熄灭，从而实现开关断开后的延时熄灭功能。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9525" y="3392018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br>
              <a:rPr lang="zh-CN" altLang="en-US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424680" y="1548765"/>
            <a:ext cx="7404735" cy="9664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l"/>
            <a:r>
              <a:rPr lang="zh-CN" altLang="en-US" dirty="0">
                <a:solidFill>
                  <a:schemeClr val="bg1"/>
                </a:solidFill>
              </a:rPr>
              <a:t>已知该电路由开关</a:t>
            </a:r>
            <a:r>
              <a:rPr lang="en-US" altLang="zh-CN" dirty="0">
                <a:solidFill>
                  <a:schemeClr val="bg1"/>
                </a:solidFill>
              </a:rPr>
              <a:t>SW7、</a:t>
            </a:r>
            <a:r>
              <a:rPr lang="zh-CN" altLang="en-US" dirty="0">
                <a:solidFill>
                  <a:schemeClr val="bg1"/>
                </a:solidFill>
              </a:rPr>
              <a:t>储能电容</a:t>
            </a:r>
            <a:r>
              <a:rPr lang="en-US" altLang="zh-CN" dirty="0">
                <a:solidFill>
                  <a:schemeClr val="bg1"/>
                </a:solidFill>
              </a:rPr>
              <a:t>E1、</a:t>
            </a:r>
            <a:r>
              <a:rPr lang="zh-CN" altLang="en-US" dirty="0">
                <a:solidFill>
                  <a:schemeClr val="bg1"/>
                </a:solidFill>
              </a:rPr>
              <a:t>限流电阻</a:t>
            </a:r>
            <a:r>
              <a:rPr lang="en-US" altLang="zh-CN" dirty="0">
                <a:solidFill>
                  <a:schemeClr val="bg1"/>
                </a:solidFill>
              </a:rPr>
              <a:t>R10、</a:t>
            </a:r>
            <a:r>
              <a:rPr lang="zh-CN" altLang="en-US" dirty="0">
                <a:solidFill>
                  <a:schemeClr val="bg1"/>
                </a:solidFill>
              </a:rPr>
              <a:t>基极电阻</a:t>
            </a:r>
            <a:r>
              <a:rPr lang="en-US" altLang="zh-CN" dirty="0">
                <a:solidFill>
                  <a:schemeClr val="bg1"/>
                </a:solidFill>
              </a:rPr>
              <a:t>R11、</a:t>
            </a:r>
            <a:endParaRPr lang="en-US" altLang="zh-CN" dirty="0">
              <a:solidFill>
                <a:schemeClr val="bg1"/>
              </a:solidFill>
            </a:endParaRPr>
          </a:p>
          <a:p>
            <a:pPr algn="l"/>
            <a:r>
              <a:rPr lang="zh-CN" altLang="en-US" dirty="0">
                <a:solidFill>
                  <a:schemeClr val="bg1"/>
                </a:solidFill>
              </a:rPr>
              <a:t>三极管</a:t>
            </a:r>
            <a:r>
              <a:rPr lang="en-US" altLang="zh-CN" dirty="0">
                <a:solidFill>
                  <a:schemeClr val="bg1"/>
                </a:solidFill>
              </a:rPr>
              <a:t>Q1</a:t>
            </a:r>
            <a:r>
              <a:rPr lang="zh-CN" altLang="en-US" dirty="0">
                <a:solidFill>
                  <a:schemeClr val="bg1"/>
                </a:solidFill>
              </a:rPr>
              <a:t>和红色发光二极管</a:t>
            </a:r>
            <a:r>
              <a:rPr lang="en-US" altLang="zh-CN" dirty="0">
                <a:solidFill>
                  <a:schemeClr val="bg1"/>
                </a:solidFill>
              </a:rPr>
              <a:t>LED3</a:t>
            </a:r>
            <a:r>
              <a:rPr lang="zh-CN" altLang="en-US" dirty="0">
                <a:solidFill>
                  <a:schemeClr val="bg1"/>
                </a:solidFill>
              </a:rPr>
              <a:t>组成。其中，</a:t>
            </a:r>
            <a:r>
              <a:rPr lang="en-US" altLang="zh-CN" dirty="0">
                <a:solidFill>
                  <a:schemeClr val="bg1"/>
                </a:solidFill>
              </a:rPr>
              <a:t>R10</a:t>
            </a:r>
            <a:r>
              <a:rPr lang="zh-CN" altLang="en-US" dirty="0">
                <a:solidFill>
                  <a:schemeClr val="bg1"/>
                </a:solidFill>
              </a:rPr>
              <a:t>用于限制</a:t>
            </a:r>
            <a:r>
              <a:rPr lang="en-US" altLang="zh-CN" dirty="0">
                <a:solidFill>
                  <a:schemeClr val="bg1"/>
                </a:solidFill>
              </a:rPr>
              <a:t>LED</a:t>
            </a:r>
            <a:r>
              <a:rPr lang="zh-CN" altLang="en-US" dirty="0">
                <a:solidFill>
                  <a:schemeClr val="bg1"/>
                </a:solidFill>
              </a:rPr>
              <a:t>电流，</a:t>
            </a:r>
            <a:endParaRPr lang="zh-CN" altLang="en-US" dirty="0">
              <a:solidFill>
                <a:schemeClr val="bg1"/>
              </a:solidFill>
            </a:endParaRPr>
          </a:p>
          <a:p>
            <a:pPr algn="l"/>
            <a:r>
              <a:rPr lang="en-US" altLang="zh-CN" dirty="0">
                <a:solidFill>
                  <a:schemeClr val="bg1"/>
                </a:solidFill>
              </a:rPr>
              <a:t>R11</a:t>
            </a:r>
            <a:r>
              <a:rPr lang="zh-CN" altLang="en-US" dirty="0">
                <a:solidFill>
                  <a:schemeClr val="bg1"/>
                </a:solidFill>
              </a:rPr>
              <a:t>用于限制三极管基极电流，</a:t>
            </a:r>
            <a:r>
              <a:rPr lang="en-US" altLang="zh-CN" dirty="0">
                <a:solidFill>
                  <a:schemeClr val="bg1"/>
                </a:solidFill>
              </a:rPr>
              <a:t>E1</a:t>
            </a:r>
            <a:r>
              <a:rPr lang="zh-CN" altLang="en-US" dirty="0">
                <a:solidFill>
                  <a:schemeClr val="bg1"/>
                </a:solidFill>
              </a:rPr>
              <a:t>用于储存电能并产生延时效果。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24025" y="484089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/>
              <a:t>光控灯</a:t>
            </a:r>
            <a:endParaRPr lang="zh-CN" altLang="en-US" sz="2000" dirty="0"/>
          </a:p>
        </p:txBody>
      </p:sp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424305" y="1068070"/>
            <a:ext cx="2247265" cy="4112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6" grpId="0"/>
      <p:bldP spid="6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728470"/>
            <a:ext cx="3716306" cy="3486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8570" y="337185"/>
            <a:ext cx="1008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</a:rPr>
              <a:t>思考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215" y="2199640"/>
            <a:ext cx="3716306" cy="2543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71218" y="5091323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</a:rPr>
              <a:t>这是为什么呢？？？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52190" y="742732"/>
            <a:ext cx="4570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chemeClr val="bg1"/>
                </a:solidFill>
              </a:rPr>
              <a:t>直流偏置：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PingFang SC"/>
              </a:rPr>
              <a:t>是指将交流信号整体上移或下移</a:t>
            </a:r>
            <a:endParaRPr lang="en-US" altLang="zh-CN" b="0" i="0" dirty="0">
              <a:solidFill>
                <a:schemeClr val="bg1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chemeClr val="bg1"/>
                </a:solidFill>
                <a:effectLst/>
                <a:latin typeface="PingFang SC"/>
              </a:rPr>
              <a:t>一个固定的直流电压值。</a:t>
            </a:r>
            <a:endParaRPr lang="zh-CN" altLang="en-US" b="0" i="0" dirty="0">
              <a:solidFill>
                <a:schemeClr val="bg1"/>
              </a:solidFill>
              <a:effectLst/>
              <a:latin typeface="PingFang SC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58570" y="5552988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</a:rPr>
              <a:t>推挽输出（</a:t>
            </a:r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</a:rPr>
              <a:t>类功放）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44353" y="5552987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</a:rPr>
              <a:t>交越失真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226567" y="209550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dirty="0">
                <a:solidFill>
                  <a:schemeClr val="accent1"/>
                </a:solidFill>
                <a:latin typeface="华光行楷_CNKI" panose="02000500000000000000" pitchFamily="2" charset="-122"/>
                <a:ea typeface="华光行楷_CNKI" panose="02000500000000000000" pitchFamily="2" charset="-122"/>
              </a:rPr>
              <a:t>拓展题</a:t>
            </a:r>
            <a:endParaRPr lang="zh-CN" altLang="en-US" sz="3600" dirty="0">
              <a:solidFill>
                <a:schemeClr val="accent1"/>
              </a:solidFill>
              <a:latin typeface="华光行楷_CNKI" panose="02000500000000000000" pitchFamily="2" charset="-122"/>
              <a:ea typeface="华光行楷_CNKI" panose="020005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82" y="1316052"/>
            <a:ext cx="4794504" cy="375936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1050" y="1316176"/>
            <a:ext cx="4453890" cy="20300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chemeClr val="bg1"/>
                </a:solidFill>
              </a:rPr>
              <a:t>系统供电</a:t>
            </a:r>
            <a:r>
              <a:rPr lang="en-US" altLang="zh-CN" dirty="0">
                <a:solidFill>
                  <a:schemeClr val="bg1"/>
                </a:solidFill>
              </a:rPr>
              <a:t>6V</a:t>
            </a:r>
            <a:r>
              <a:rPr lang="zh-CN" altLang="en-US" dirty="0">
                <a:solidFill>
                  <a:schemeClr val="bg1"/>
                </a:solidFill>
              </a:rPr>
              <a:t>，输入一个</a:t>
            </a:r>
            <a:r>
              <a:rPr lang="en-US" altLang="zh-CN" dirty="0" err="1">
                <a:solidFill>
                  <a:schemeClr val="bg1"/>
                </a:solidFill>
              </a:rPr>
              <a:t>vpp</a:t>
            </a:r>
            <a:r>
              <a:rPr lang="en-US" altLang="zh-CN" dirty="0">
                <a:solidFill>
                  <a:schemeClr val="bg1"/>
                </a:solidFill>
              </a:rPr>
              <a:t>=6V</a:t>
            </a:r>
            <a:r>
              <a:rPr lang="zh-CN" altLang="en-US" dirty="0">
                <a:solidFill>
                  <a:schemeClr val="bg1"/>
                </a:solidFill>
              </a:rPr>
              <a:t>，偏置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为</a:t>
            </a:r>
            <a:r>
              <a:rPr lang="en-US" altLang="zh-CN" dirty="0">
                <a:solidFill>
                  <a:schemeClr val="bg1"/>
                </a:solidFill>
              </a:rPr>
              <a:t>3V</a:t>
            </a:r>
            <a:r>
              <a:rPr lang="zh-CN" altLang="en-US" dirty="0">
                <a:solidFill>
                  <a:schemeClr val="bg1"/>
                </a:solidFill>
              </a:rPr>
              <a:t>的正弦波当输入处于前半周期时，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s9013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 err="1">
                <a:solidFill>
                  <a:schemeClr val="bg1"/>
                </a:solidFill>
              </a:rPr>
              <a:t>npn</a:t>
            </a:r>
            <a:r>
              <a:rPr lang="zh-CN" altLang="en-US" dirty="0">
                <a:solidFill>
                  <a:schemeClr val="bg1"/>
                </a:solidFill>
              </a:rPr>
              <a:t>）导通，</a:t>
            </a:r>
            <a:r>
              <a:rPr lang="en-US" altLang="zh-CN" dirty="0">
                <a:solidFill>
                  <a:schemeClr val="bg1"/>
                </a:solidFill>
              </a:rPr>
              <a:t>s9012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 err="1">
                <a:solidFill>
                  <a:schemeClr val="bg1"/>
                </a:solidFill>
              </a:rPr>
              <a:t>pnp</a:t>
            </a:r>
            <a:r>
              <a:rPr lang="zh-CN" altLang="en-US" dirty="0">
                <a:solidFill>
                  <a:schemeClr val="bg1"/>
                </a:solidFill>
              </a:rPr>
              <a:t>）截止 ，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LED4</a:t>
            </a:r>
            <a:r>
              <a:rPr lang="zh-CN" altLang="en-US" dirty="0">
                <a:solidFill>
                  <a:schemeClr val="bg1"/>
                </a:solidFill>
              </a:rPr>
              <a:t>亮起；当输出处于后半周期时，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s9012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 err="1">
                <a:solidFill>
                  <a:schemeClr val="bg1"/>
                </a:solidFill>
              </a:rPr>
              <a:t>pnp</a:t>
            </a:r>
            <a:r>
              <a:rPr lang="zh-CN" altLang="en-US" dirty="0">
                <a:solidFill>
                  <a:schemeClr val="bg1"/>
                </a:solidFill>
              </a:rPr>
              <a:t>）导通，</a:t>
            </a:r>
            <a:r>
              <a:rPr lang="en-US" altLang="zh-CN" dirty="0">
                <a:solidFill>
                  <a:schemeClr val="bg1"/>
                </a:solidFill>
              </a:rPr>
              <a:t>s9013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npn</a:t>
            </a:r>
            <a:r>
              <a:rPr lang="zh-CN" altLang="en-US" dirty="0">
                <a:solidFill>
                  <a:schemeClr val="bg1"/>
                </a:solidFill>
              </a:rPr>
              <a:t>）截止，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LED3</a:t>
            </a:r>
            <a:r>
              <a:rPr lang="zh-CN" altLang="en-US" dirty="0">
                <a:solidFill>
                  <a:schemeClr val="bg1"/>
                </a:solidFill>
              </a:rPr>
              <a:t>亮起。即两个</a:t>
            </a:r>
            <a:r>
              <a:rPr lang="en-US" altLang="zh-CN" dirty="0">
                <a:solidFill>
                  <a:schemeClr val="bg1"/>
                </a:solidFill>
              </a:rPr>
              <a:t>LED</a:t>
            </a:r>
            <a:r>
              <a:rPr lang="zh-CN" altLang="en-US" dirty="0">
                <a:solidFill>
                  <a:schemeClr val="bg1"/>
                </a:solidFill>
              </a:rPr>
              <a:t>以正弦波频率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交替亮起。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60806" y="3875405"/>
            <a:ext cx="41088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chemeClr val="bg1"/>
                </a:solidFill>
              </a:rPr>
              <a:t>二极管的作用：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利用二极管的单向导电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性和导通压降，将信号强行钳制到某一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电位上，抬高或降低信号的基准电位，</a:t>
            </a:r>
            <a:endParaRPr lang="en-US" altLang="zh-CN" b="0" i="0" dirty="0">
              <a:solidFill>
                <a:schemeClr val="bg1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chemeClr val="bg1"/>
                </a:solidFill>
                <a:effectLst/>
                <a:latin typeface="-apple-system"/>
              </a:rPr>
              <a:t>但不改变原信号的波形</a:t>
            </a:r>
            <a:endParaRPr lang="zh-CN" altLang="en-US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42195" y="5645015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</a:rPr>
              <a:t>AB</a:t>
            </a:r>
            <a:r>
              <a:rPr lang="zh-CN" altLang="en-US" sz="2400" b="1" dirty="0">
                <a:solidFill>
                  <a:srgbClr val="FF0000"/>
                </a:solidFill>
              </a:rPr>
              <a:t>类功放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48889" name="任意多边形: 形状 20"/>
          <p:cNvSpPr/>
          <p:nvPr/>
        </p:nvSpPr>
        <p:spPr>
          <a:xfrm>
            <a:off x="457204" y="7374"/>
            <a:ext cx="609605" cy="914407"/>
          </a:xfrm>
          <a:custGeom>
            <a:avLst/>
            <a:gdLst>
              <a:gd name="connsiteX0" fmla="*/ 0 w 627387"/>
              <a:gd name="connsiteY0" fmla="*/ 0 h 912618"/>
              <a:gd name="connsiteX1" fmla="*/ 627387 w 627387"/>
              <a:gd name="connsiteY1" fmla="*/ 0 h 912618"/>
              <a:gd name="connsiteX2" fmla="*/ 627387 w 627387"/>
              <a:gd name="connsiteY2" fmla="*/ 912618 h 912618"/>
              <a:gd name="connsiteX3" fmla="*/ 626450 w 627387"/>
              <a:gd name="connsiteY3" fmla="*/ 912618 h 912618"/>
              <a:gd name="connsiteX4" fmla="*/ 307591 w 627387"/>
              <a:gd name="connsiteY4" fmla="*/ 508784 h 912618"/>
              <a:gd name="connsiteX5" fmla="*/ 0 w 627387"/>
              <a:gd name="connsiteY5" fmla="*/ 898346 h 91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7387" h="912618">
                <a:moveTo>
                  <a:pt x="0" y="0"/>
                </a:moveTo>
                <a:lnTo>
                  <a:pt x="627387" y="0"/>
                </a:lnTo>
                <a:lnTo>
                  <a:pt x="627387" y="912618"/>
                </a:lnTo>
                <a:lnTo>
                  <a:pt x="626450" y="912618"/>
                </a:lnTo>
                <a:lnTo>
                  <a:pt x="307591" y="508784"/>
                </a:lnTo>
                <a:lnTo>
                  <a:pt x="0" y="898346"/>
                </a:lnTo>
                <a:close/>
              </a:path>
            </a:pathLst>
          </a:custGeom>
          <a:solidFill>
            <a:srgbClr val="8FAADC"/>
          </a:solidFill>
          <a:ln w="12700" cap="flat">
            <a:noFill/>
            <a:prstDash val="solid"/>
            <a:miter lim="800000"/>
          </a:ln>
          <a:effectLst/>
        </p:spPr>
        <p:txBody>
          <a:bodyPr wrap="square" lIns="0" tIns="0" rIns="0" bIns="0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none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/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DIAGRAM_VIRTUALLY_FRAME" val="{&quot;height&quot;:371.5750393700787,&quot;left&quot;:15.54740157480315,&quot;top&quot;:115.53629921259842,&quot;width&quot;:610.1999999999999}"/>
</p:tagLst>
</file>

<file path=ppt/tags/tag6.xml><?xml version="1.0" encoding="utf-8"?>
<p:tagLst xmlns:p="http://schemas.openxmlformats.org/presentationml/2006/main">
  <p:tag name="KSO_WM_DIAGRAM_VIRTUALLY_FRAME" val="{&quot;height&quot;:371.5750393700787,&quot;left&quot;:15.54740157480315,&quot;top&quot;:115.53629921259842,&quot;width&quot;:610.1999999999999}"/>
</p:tagLst>
</file>

<file path=ppt/tags/tag7.xml><?xml version="1.0" encoding="utf-8"?>
<p:tagLst xmlns:p="http://schemas.openxmlformats.org/presentationml/2006/main">
  <p:tag name="KSO_WM_DIAGRAM_VIRTUALLY_FRAME" val="{&quot;height&quot;:371.5750393700787,&quot;left&quot;:15.54740157480315,&quot;top&quot;:115.53629921259842,&quot;width&quot;:610.1999999999999}"/>
</p:tagLst>
</file>

<file path=ppt/tags/tag8.xml><?xml version="1.0" encoding="utf-8"?>
<p:tagLst xmlns:p="http://schemas.openxmlformats.org/presentationml/2006/main">
  <p:tag name="KSO_WM_DIAGRAM_VIRTUALLY_FRAME" val="{&quot;height&quot;:371.5750393700787,&quot;left&quot;:15.54740157480315,&quot;top&quot;:115.53629921259842,&quot;width&quot;:610.1999999999999}"/>
</p:tagLst>
</file>

<file path=ppt/tags/tag9.xml><?xml version="1.0" encoding="utf-8"?>
<p:tagLst xmlns:p="http://schemas.openxmlformats.org/presentationml/2006/main">
  <p:tag name="KSO_WM_DIAGRAM_VIRTUALLY_FRAME" val="{&quot;height&quot;:371.5750393700787,&quot;left&quot;:15.54740157480315,&quot;top&quot;:115.53629921259842,&quot;width&quot;:610.1999999999999}"/>
</p:tagLst>
</file>

<file path=ppt/tags/tag10.xml><?xml version="1.0" encoding="utf-8"?>
<p:tagLst xmlns:p="http://schemas.openxmlformats.org/presentationml/2006/main">
  <p:tag name="KSO_WM_DIAGRAM_VIRTUALLY_FRAME" val="{&quot;height&quot;:371.5750393700787,&quot;left&quot;:15.54740157480315,&quot;top&quot;:115.53629921259842,&quot;width&quot;:610.1999999999999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0260_1*i*1"/>
  <p:tag name="KSO_WM_TEMPLATE_CATEGORY" val="diagram"/>
  <p:tag name="KSO_WM_TEMPLATE_INDEX" val="20220260"/>
  <p:tag name="KSO_WM_UNIT_LAYERLEVEL" val="1"/>
  <p:tag name="KSO_WM_TAG_VERSION" val="1.0"/>
  <p:tag name="KSO_WM_BEAUTIFY_FLAG" val=""/>
  <p:tag name="KSO_WM_UNIT_BLOCK" val="0"/>
  <p:tag name="KSO_WM_UNIT_SM_LIMIT_TYPE" val="0"/>
  <p:tag name="KSO_WM_UNIT_DEC_AREA_ID" val="f2d2f7c3dde840d4878e6f4390c12c49"/>
  <p:tag name="KSO_WM_UNIT_DECORATE_INFO" val="{&quot;ReferentInfo&quot;:{&quot;Id&quot;:&quot;slide&quot;,&quot;X&quot;:{&quot;Pos&quot;:0},&quot;Y&quot;:{&quot;Pos&quot;:0}},&quot;DecorateInfoX&quot;:{&quot;Pos&quot;:0,&quot;IsAbs&quot;:true},&quot;DecorateInfoY&quot;:{&quot;Pos&quot;:0,&quot;IsAbs&quot;:true},&quot;DecorateInfoW&quot;:{&quot;IsAbs&quot;:true},&quot;DecorateInfoH&quot;:{&quot;IsAbs&quot;:true},&quot;whChangeMode&quot;:0}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等线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等线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3923</Words>
  <Application>WPS 演示</Application>
  <PresentationFormat>宽屏</PresentationFormat>
  <Paragraphs>306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6" baseType="lpstr">
      <vt:lpstr>Arial</vt:lpstr>
      <vt:lpstr>宋体</vt:lpstr>
      <vt:lpstr>Wingdings</vt:lpstr>
      <vt:lpstr>华文新魏</vt:lpstr>
      <vt:lpstr>华文行楷</vt:lpstr>
      <vt:lpstr>华文楷体</vt:lpstr>
      <vt:lpstr>等线</vt:lpstr>
      <vt:lpstr>微软雅黑</vt:lpstr>
      <vt:lpstr>Times New Roman</vt:lpstr>
      <vt:lpstr>华文宋体</vt:lpstr>
      <vt:lpstr>Arial Unicode MS</vt:lpstr>
      <vt:lpstr>等线 Light</vt:lpstr>
      <vt:lpstr>-apple-system</vt:lpstr>
      <vt:lpstr>Segoe Print</vt:lpstr>
      <vt:lpstr>Arial</vt:lpstr>
      <vt:lpstr>楷体_GB2312</vt:lpstr>
      <vt:lpstr>新宋体</vt:lpstr>
      <vt:lpstr>汉仪中等线简</vt:lpstr>
      <vt:lpstr>MS UI Gothic</vt:lpstr>
      <vt:lpstr>华光行楷_CNKI</vt:lpstr>
      <vt:lpstr>PingFang SC</vt:lpstr>
      <vt:lpstr>Office 主题​​</vt:lpstr>
      <vt:lpstr>1_Office 主题​​</vt:lpstr>
      <vt:lpstr>ILCE通信创新实验室第一次培训</vt:lpstr>
      <vt:lpstr>基本元器件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二极管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集成运算放大器</dc:title>
  <dc:creator>Windows 用户</dc:creator>
  <cp:lastModifiedBy>沉.</cp:lastModifiedBy>
  <cp:revision>44</cp:revision>
  <dcterms:created xsi:type="dcterms:W3CDTF">2018-10-28T10:40:00Z</dcterms:created>
  <dcterms:modified xsi:type="dcterms:W3CDTF">2026-10-10T13:54:44Z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D4F824496E794486BDE6FF99842E6430_13</vt:lpwstr>
  </property>
</Properties>
</file>